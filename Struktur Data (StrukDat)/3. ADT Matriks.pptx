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9"/>
  </p:notesMasterIdLst>
  <p:sldIdLst>
    <p:sldId id="256" r:id="rId3"/>
    <p:sldId id="297" r:id="rId4"/>
    <p:sldId id="267" r:id="rId5"/>
    <p:sldId id="284" r:id="rId6"/>
    <p:sldId id="285" r:id="rId7"/>
    <p:sldId id="302" r:id="rId8"/>
    <p:sldId id="303" r:id="rId9"/>
    <p:sldId id="304" r:id="rId10"/>
    <p:sldId id="305" r:id="rId11"/>
    <p:sldId id="306" r:id="rId12"/>
    <p:sldId id="307" r:id="rId13"/>
    <p:sldId id="287" r:id="rId14"/>
    <p:sldId id="286" r:id="rId15"/>
    <p:sldId id="288" r:id="rId16"/>
    <p:sldId id="309" r:id="rId17"/>
    <p:sldId id="294" r:id="rId18"/>
    <p:sldId id="310" r:id="rId19"/>
    <p:sldId id="295" r:id="rId20"/>
    <p:sldId id="301" r:id="rId21"/>
    <p:sldId id="257" r:id="rId22"/>
    <p:sldId id="260" r:id="rId23"/>
    <p:sldId id="313" r:id="rId24"/>
    <p:sldId id="312" r:id="rId25"/>
    <p:sldId id="261" r:id="rId26"/>
    <p:sldId id="266" r:id="rId27"/>
    <p:sldId id="28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F5684-DC87-4339-A141-E3C475CF30B4}" type="datetimeFigureOut">
              <a:rPr lang="en-ID" smtClean="0"/>
              <a:t>07/09/2025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0DF73-1BF2-49DA-905E-E7A9AFCBDF6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8060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65A925-954B-4DEB-9260-45095FCFF250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2820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DD6B338-71C7-BCA0-45DB-2478AE14A30A}"/>
              </a:ext>
            </a:extLst>
          </p:cNvPr>
          <p:cNvSpPr/>
          <p:nvPr/>
        </p:nvSpPr>
        <p:spPr>
          <a:xfrm>
            <a:off x="4115579" y="995680"/>
            <a:ext cx="7899401" cy="5059680"/>
          </a:xfrm>
          <a:prstGeom prst="rect">
            <a:avLst/>
          </a:prstGeom>
          <a:solidFill>
            <a:schemeClr val="tx1">
              <a:lumMod val="95000"/>
              <a:lumOff val="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95595-F432-BFE8-C03C-BEACE4C25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1319" y="1122362"/>
            <a:ext cx="7707923" cy="2987413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C5010-D0AA-68E2-8063-508B86FE7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2592" y="4250452"/>
            <a:ext cx="7616650" cy="100734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10C35-09EA-E536-5C60-D001E8A94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9B299-341E-E2A1-B695-EC6931C20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5279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234CB-D024-8902-A222-9EF4B07C3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44100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18CBE-F6F2-3DB8-183C-4193C2933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44370"/>
            <a:ext cx="11404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63CC5-9712-5985-3784-F4A2B06D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8D2BE-5201-7A3C-6646-C96FD0CB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507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B25A-AECC-3502-C83B-98CD3527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11543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A7FDA-B312-412E-739E-B54CC0273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3922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99EEA-BCD3-6838-213C-6BFCD9327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0B4D8-1EEB-3FAF-3369-E87306347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9923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0C34-42CD-5AC0-9731-5418D12D7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3306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121D7-51C0-8161-8564-34EB68D80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800" y="1940401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241E9-2AAE-94F3-08BC-B4E179F7A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5800" y="1940401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AE1B8-2BA1-6C60-5E7B-67C834AF9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A9F3E-0FAC-26FF-E516-A4FAB9463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6371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49704-CA00-F343-5C86-6F2B9AB8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68" y="45656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7C74F-8CEB-5427-19D0-FF84E5157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868" y="177260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EC7C7-269A-7111-0478-095E4A4D4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868" y="259651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4EAE56-91D6-7591-6DD1-7E113CC438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96280" y="177260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198D11-6C9F-0557-58A5-8AC4A72FF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96280" y="259651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E16CB6-D0E4-7045-44D5-826F647FF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D13C3-D4C5-FAE4-DC57-B13C071C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910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1D3F9-304D-D146-726F-FC2C0EB6B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45116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47B75-0AC0-47F0-7F5F-3B1C08085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F8457-30CA-FD83-E7A3-55C86E9F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1093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A2709F-A7B0-22AB-A1D8-547BA5593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01FF7-4D34-93DC-F033-4BC1DFE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7366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83796-D09F-9343-0B56-A89E7880E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8" y="46196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DAF63-8B79-72BF-DAD7-22377518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388" y="461962"/>
            <a:ext cx="6571932" cy="57559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1F785-FF54-810B-5540-C51695D8F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0988" y="2062161"/>
            <a:ext cx="3932237" cy="41557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8E575-4962-D63E-F4A9-54523EBD8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DD4C3-612F-872F-0FD8-882EE467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86333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4AA75-CA40-F264-F9D5-9FC8EC4A5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14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AD312E-0484-205F-077B-756B53F359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34548" y="457201"/>
            <a:ext cx="6470332" cy="58521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0D47F-20AA-82A9-5AFD-9AA1D7615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1148" y="2057400"/>
            <a:ext cx="3932237" cy="42519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860F9-1014-76DC-7B64-06E889C48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E4E90-928D-FD19-9C95-01C23E4A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18083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561D-8DCD-E250-20A0-B7F90FF1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711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79EB8-0408-5BC2-844D-9C0210CC4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1000" y="2005012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8E50F-08FA-B99B-0FD3-83AFC51E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BBABF-E789-EDEA-E923-6663B352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32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E51B9B-3A36-2C81-FDE7-0196240172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79460" y="34480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D84668-D314-A565-9634-B98DC2555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92760" y="34480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0FEFC-0879-7417-9D00-9E1B23D20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D9A30-B237-A4A1-0138-4C97062D8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4080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BA3E7-8F85-6783-A3F4-71F9166BD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4D4D6A-A96E-77E6-92E8-7195D61CB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8C139-38FE-9BAE-BCCE-3BB48822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585-F188-46EC-B188-FF85939E143C}" type="datetimeFigureOut">
              <a:rPr lang="en-ID" smtClean="0"/>
              <a:t>07/09/2025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277D1-D90F-EF4E-917F-224576FB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411E7-F30B-64EC-6D0D-10495705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FA31-58FD-4721-B601-369B272FED5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6076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F4B78-E47A-D377-422A-512CB52F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18162-325A-84A5-AD32-ADFFD3D72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BF35D-D07D-C90C-F9E0-3DDC16FD1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585-F188-46EC-B188-FF85939E143C}" type="datetimeFigureOut">
              <a:rPr lang="en-ID" smtClean="0"/>
              <a:t>07/09/2025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7F852-FF75-7AE4-02FC-C606711F1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FE0A4-C7A1-A9DE-B2D7-873CFFD72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FA31-58FD-4721-B601-369B272FED5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91821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D7868-1372-A65F-0EF0-F314DCEE7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80C2D-3D32-89E7-9B89-E3A469EB5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4211C-1DE1-E0C9-FAF8-1F216BA46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585-F188-46EC-B188-FF85939E143C}" type="datetimeFigureOut">
              <a:rPr lang="en-ID" smtClean="0"/>
              <a:t>07/09/2025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14A8C-41C4-E2D5-EAE7-B07113524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C8EE4-393C-ECD1-09D3-DDF32FC65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FA31-58FD-4721-B601-369B272FED5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8344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0F627-2920-2F6C-7145-CE001EC84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BC6AC-E63F-BFAF-3324-5E70A26A2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01F51-3AF2-D797-B245-229D6D6F5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6FF5D-AD63-8533-1A53-2DC19AB3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585-F188-46EC-B188-FF85939E143C}" type="datetimeFigureOut">
              <a:rPr lang="en-ID" smtClean="0"/>
              <a:t>07/09/2025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78262-A511-0328-DE59-8F330525A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A4626-CC7E-D076-81C2-04278D468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FA31-58FD-4721-B601-369B272FED5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4949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79571-0989-5F5B-937D-6887E76BB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D7D16-A788-814C-10DD-EB5FDC394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C4E22-0E22-EE24-40A7-F93C5AEE1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8D5CF8-6A28-217B-560D-33F562FCD6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2D15D3-D9D8-388E-6B66-31FF8F9B5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D743D4-B8B8-6091-40E3-C1D80F03E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585-F188-46EC-B188-FF85939E143C}" type="datetimeFigureOut">
              <a:rPr lang="en-ID" smtClean="0"/>
              <a:t>07/09/2025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BC333B-57B0-300C-EBE2-C060D1A4E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774C66-6CE5-B5F2-95AA-30F8D7BAA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FA31-58FD-4721-B601-369B272FED5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2429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BE6AE-9A8D-7408-6A6E-E9EB8BC3A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85E4D3-C34A-19E5-4761-0126AB247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585-F188-46EC-B188-FF85939E143C}" type="datetimeFigureOut">
              <a:rPr lang="en-ID" smtClean="0"/>
              <a:t>07/09/2025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707E6-9C14-44D1-F495-D2F44F143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70555F-A9AD-CE9E-926C-6F8309DFF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FA31-58FD-4721-B601-369B272FED5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248823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481785-8479-876A-5643-17EA86C3B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585-F188-46EC-B188-FF85939E143C}" type="datetimeFigureOut">
              <a:rPr lang="en-ID" smtClean="0"/>
              <a:t>07/09/2025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43CF6-3759-E661-F889-5423152B7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2E535-80B2-B401-E0CF-E3F6F76D1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FA31-58FD-4721-B601-369B272FED5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8415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AAA23-FBE7-626E-CB6E-65BFAEB76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1821E-4DE7-15B0-EC45-B0C26EEAF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7A4BD0-E1A6-9A7F-A1A4-6B8C2E1CA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D22C8-A379-39C1-8BA4-D76BC25C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585-F188-46EC-B188-FF85939E143C}" type="datetimeFigureOut">
              <a:rPr lang="en-ID" smtClean="0"/>
              <a:t>07/09/2025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A8E91-5A0D-27ED-ECF0-7D6ED6F93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33A0F-3CB9-22D6-5061-AA32D4705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FA31-58FD-4721-B601-369B272FED5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337631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A85A-90AB-337C-58B4-C0D447CD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A19F1E-09B0-55F5-41C6-AEF5D75A1A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B487A-C2B7-E85E-72AF-36B545D9D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FE5B-B1E6-A25F-5EDB-AD303979B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585-F188-46EC-B188-FF85939E143C}" type="datetimeFigureOut">
              <a:rPr lang="en-ID" smtClean="0"/>
              <a:t>07/09/2025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78D25-D059-0141-BB91-DC54A820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C3CAC-019B-4611-40AE-81487F7E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FA31-58FD-4721-B601-369B272FED5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669299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D06E7-13FC-9F42-59F6-9E52C781C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DA8B0-5F72-3360-97EF-63822B01B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67D32-9683-232F-CC6F-8AF9F8C5B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585-F188-46EC-B188-FF85939E143C}" type="datetimeFigureOut">
              <a:rPr lang="en-ID" smtClean="0"/>
              <a:t>07/09/2025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C8207-95F4-6A66-A28A-86F34C0A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9AD3F-25A2-B4A5-AE95-B26FD661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FA31-58FD-4721-B601-369B272FED5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55837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3AD8BF-6B19-71ED-406A-E12E128489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69582-879A-D10A-E61D-E0858A8A4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5AC30-3481-6DD6-886B-AA433BA10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585-F188-46EC-B188-FF85939E143C}" type="datetimeFigureOut">
              <a:rPr lang="en-ID" smtClean="0"/>
              <a:t>07/09/2025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46341-633C-47A9-98B0-6E1C66099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D3958-093A-F11F-0175-72D45AD6B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FA31-58FD-4721-B601-369B272FED5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2874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527C7A-DE30-93AD-8D3D-FEB80CB25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66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F62F9-6DA7-E659-388A-1AD4C3B9D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3044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B6AD3-00EF-C388-845C-83CA92163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249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1277C-AAA0-479F-B475-83922A08F398}" type="datetimeFigureOut">
              <a:rPr lang="en-ID" smtClean="0"/>
              <a:t>07/09/2025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0FD2A-D0DF-0386-B3B5-A358F3AB5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494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E51DD-7E69-18E6-B18B-CA94E6990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1960" y="64992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05258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398237-86C3-6A78-9805-C0E3D991E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445BA-DBD7-8CC3-DE8D-CE4944F8A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FEBA3-389C-7CEE-69DD-0837966AE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B1585-F188-46EC-B188-FF85939E143C}" type="datetimeFigureOut">
              <a:rPr lang="en-ID" smtClean="0"/>
              <a:t>07/09/2025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52D1A-5B2B-11FE-351F-64262C122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A53F9-E3D6-9131-5355-1A2A3A9D6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7FA31-58FD-4721-B601-369B272FED5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656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2E04-9016-CB70-8D96-61F34C31EE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D" sz="4800" dirty="0"/>
              <a:t>PAIK6301 - </a:t>
            </a:r>
            <a:r>
              <a:rPr lang="en-ID" sz="4800" dirty="0" err="1"/>
              <a:t>Struktur</a:t>
            </a:r>
            <a:r>
              <a:rPr lang="en-ID" sz="4800" dirty="0"/>
              <a:t> Data </a:t>
            </a:r>
            <a:br>
              <a:rPr lang="en-ID" sz="6000" dirty="0"/>
            </a:br>
            <a:r>
              <a:rPr lang="en-US" dirty="0"/>
              <a:t>ADT - </a:t>
            </a:r>
            <a:r>
              <a:rPr lang="en-US" dirty="0" err="1"/>
              <a:t>Matriks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69A47-DF98-5955-3B5B-F3FFD5B34E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Gasal 2025/2026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45005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64C4-3502-F150-3DFF-84AD0CFC9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Jenis</a:t>
            </a:r>
            <a:r>
              <a:rPr lang="en-ID" dirty="0"/>
              <a:t>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B7371-4312-CC28-7BD0-0383C57EC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79944"/>
            <a:ext cx="11404600" cy="4615764"/>
          </a:xfrm>
        </p:spPr>
        <p:txBody>
          <a:bodyPr>
            <a:normAutofit/>
          </a:bodyPr>
          <a:lstStyle/>
          <a:p>
            <a:r>
              <a:rPr lang="en-ID" sz="2400" dirty="0"/>
              <a:t>Unit Tunggal</a:t>
            </a:r>
          </a:p>
          <a:p>
            <a:pPr lvl="1"/>
            <a:r>
              <a:rPr lang="en-ID" dirty="0"/>
              <a:t>Satu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penyusun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Contoh</a:t>
            </a:r>
            <a:r>
              <a:rPr lang="en-ID" dirty="0"/>
              <a:t>: </a:t>
            </a:r>
            <a:r>
              <a:rPr lang="en-ID" dirty="0" err="1"/>
              <a:t>titik</a:t>
            </a:r>
            <a:r>
              <a:rPr lang="en-ID" dirty="0"/>
              <a:t>, jam, garis</a:t>
            </a:r>
          </a:p>
          <a:p>
            <a:pPr lvl="1"/>
            <a:endParaRPr lang="en-ID" dirty="0"/>
          </a:p>
          <a:p>
            <a:r>
              <a:rPr lang="en-ID" sz="2400" dirty="0"/>
              <a:t>Unit </a:t>
            </a:r>
            <a:r>
              <a:rPr lang="en-ID" sz="2400" dirty="0" err="1"/>
              <a:t>Koleksi</a:t>
            </a:r>
            <a:endParaRPr lang="en-ID" sz="2400" dirty="0"/>
          </a:p>
          <a:p>
            <a:pPr lvl="1"/>
            <a:r>
              <a:rPr lang="en-ID" dirty="0"/>
              <a:t>Satu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anggota</a:t>
            </a:r>
            <a:r>
              <a:rPr lang="en-ID" dirty="0"/>
              <a:t> </a:t>
            </a:r>
            <a:r>
              <a:rPr lang="en-ID" dirty="0" err="1"/>
              <a:t>koleksi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Contoh</a:t>
            </a:r>
            <a:r>
              <a:rPr lang="en-ID" dirty="0"/>
              <a:t>: </a:t>
            </a:r>
            <a:r>
              <a:rPr lang="en-ID" dirty="0" err="1"/>
              <a:t>tabel</a:t>
            </a:r>
            <a:r>
              <a:rPr lang="en-ID" dirty="0"/>
              <a:t>, </a:t>
            </a:r>
            <a:r>
              <a:rPr lang="en-ID" dirty="0" err="1"/>
              <a:t>matriks</a:t>
            </a:r>
            <a:r>
              <a:rPr lang="en-ID" dirty="0"/>
              <a:t>, stack, queue</a:t>
            </a:r>
          </a:p>
          <a:p>
            <a:pPr lvl="1"/>
            <a:endParaRPr lang="en-ID" dirty="0"/>
          </a:p>
          <a:p>
            <a:r>
              <a:rPr lang="en-ID" sz="2400" dirty="0"/>
              <a:t>Unit </a:t>
            </a:r>
            <a:r>
              <a:rPr lang="en-ID" sz="2400" dirty="0" err="1"/>
              <a:t>Koleksi</a:t>
            </a:r>
            <a:r>
              <a:rPr lang="en-ID" sz="2400" dirty="0"/>
              <a:t> </a:t>
            </a:r>
            <a:r>
              <a:rPr lang="en-ID" sz="2400" dirty="0" err="1"/>
              <a:t>Berkait</a:t>
            </a:r>
            <a:endParaRPr lang="en-ID" sz="2400" dirty="0"/>
          </a:p>
          <a:p>
            <a:pPr lvl="1"/>
            <a:r>
              <a:rPr lang="en-ID" dirty="0"/>
              <a:t>Satu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yang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terkait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Contoh</a:t>
            </a:r>
            <a:r>
              <a:rPr lang="en-ID" dirty="0"/>
              <a:t>: linked-list, tree</a:t>
            </a:r>
          </a:p>
        </p:txBody>
      </p:sp>
    </p:spTree>
    <p:extLst>
      <p:ext uri="{BB962C8B-B14F-4D97-AF65-F5344CB8AC3E}">
        <p14:creationId xmlns:p14="http://schemas.microsoft.com/office/powerpoint/2010/main" val="2355029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54647-DF69-842C-8FA7-725CE3758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8408F-25C4-9133-A575-8B37200B7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vs. </a:t>
            </a:r>
            <a:r>
              <a:rPr lang="en-US" dirty="0" err="1"/>
              <a:t>elemen</a:t>
            </a:r>
            <a:r>
              <a:rPr lang="en-US" dirty="0"/>
              <a:t>?</a:t>
            </a:r>
          </a:p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ADT </a:t>
            </a:r>
            <a:r>
              <a:rPr lang="en-US" dirty="0" err="1"/>
              <a:t>Tabel</a:t>
            </a:r>
            <a:r>
              <a:rPr lang="en-US" dirty="0"/>
              <a:t>?</a:t>
            </a:r>
          </a:p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selektor</a:t>
            </a:r>
            <a:r>
              <a:rPr lang="en-US" dirty="0"/>
              <a:t> &amp; mutator pada ADT Tunggal </a:t>
            </a:r>
            <a:r>
              <a:rPr lang="en-US" dirty="0" err="1"/>
              <a:t>dengan</a:t>
            </a:r>
            <a:r>
              <a:rPr lang="en-US" dirty="0"/>
              <a:t> ADT </a:t>
            </a:r>
            <a:r>
              <a:rPr lang="en-US" dirty="0" err="1"/>
              <a:t>koleksi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62CA1-E985-79A3-B139-DF93EE2C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118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9E14-2EFC-BED8-36D1-C3425250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Matriks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F84D0-EDBD-CB81-CE75-87880A814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Objek</a:t>
            </a:r>
            <a:r>
              <a:rPr lang="en-US" dirty="0"/>
              <a:t> unit </a:t>
            </a:r>
            <a:r>
              <a:rPr lang="en-US" dirty="0" err="1"/>
              <a:t>kolektif</a:t>
            </a:r>
            <a:r>
              <a:rPr lang="en-US" dirty="0"/>
              <a:t> N </a:t>
            </a:r>
            <a:r>
              <a:rPr lang="en-US" dirty="0" err="1"/>
              <a:t>dimensi</a:t>
            </a:r>
            <a:endParaRPr lang="en-US" dirty="0"/>
          </a:p>
          <a:p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anggota</a:t>
            </a:r>
            <a:r>
              <a:rPr lang="en-US" dirty="0"/>
              <a:t>,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kosong</a:t>
            </a:r>
            <a:endParaRPr lang="en-US" dirty="0"/>
          </a:p>
          <a:p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(value/info)</a:t>
            </a:r>
          </a:p>
          <a:p>
            <a:r>
              <a:rPr lang="en-US" dirty="0"/>
              <a:t>Pada </a:t>
            </a:r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kontigu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Dibatasi</a:t>
            </a:r>
            <a:r>
              <a:rPr lang="en-US" dirty="0"/>
              <a:t> </a:t>
            </a:r>
            <a:r>
              <a:rPr lang="en-US" dirty="0" err="1"/>
              <a:t>kapasitas</a:t>
            </a:r>
            <a:endParaRPr lang="en-US" dirty="0"/>
          </a:p>
          <a:p>
            <a:pPr lvl="1"/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posisi</a:t>
            </a:r>
            <a:r>
              <a:rPr lang="en-US" dirty="0"/>
              <a:t> (index)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kombinasi</a:t>
            </a:r>
            <a:r>
              <a:rPr lang="en-US" dirty="0"/>
              <a:t> </a:t>
            </a:r>
            <a:r>
              <a:rPr lang="en-US" dirty="0" err="1"/>
              <a:t>dimensi</a:t>
            </a:r>
            <a:endParaRPr lang="en-US" dirty="0"/>
          </a:p>
          <a:p>
            <a:r>
              <a:rPr lang="en-US" dirty="0"/>
              <a:t>Pada </a:t>
            </a:r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berkait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Dibatasi</a:t>
            </a:r>
            <a:r>
              <a:rPr lang="en-US" dirty="0"/>
              <a:t> </a:t>
            </a:r>
            <a:r>
              <a:rPr lang="en-US" dirty="0" err="1"/>
              <a:t>memori</a:t>
            </a:r>
            <a:endParaRPr lang="en-US" dirty="0"/>
          </a:p>
          <a:p>
            <a:pPr lvl="1"/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alamat</a:t>
            </a:r>
            <a:r>
              <a:rPr lang="en-US" dirty="0"/>
              <a:t> (address)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03870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6EC4-F203-2F23-C4D0-9D4623144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Matriks</a:t>
            </a:r>
            <a:r>
              <a:rPr lang="en-US" dirty="0"/>
              <a:t> 2 </a:t>
            </a:r>
            <a:r>
              <a:rPr lang="en-US" dirty="0" err="1"/>
              <a:t>dimensi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82332-AA63-6E8A-30DD-7FA0E66CA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Objek</a:t>
            </a:r>
            <a:r>
              <a:rPr lang="en-US" dirty="0"/>
              <a:t> unit </a:t>
            </a:r>
            <a:r>
              <a:rPr lang="en-US" dirty="0" err="1"/>
              <a:t>kolektif</a:t>
            </a:r>
            <a:r>
              <a:rPr lang="en-US" dirty="0"/>
              <a:t> 2 </a:t>
            </a:r>
            <a:r>
              <a:rPr lang="en-US" dirty="0" err="1"/>
              <a:t>dimensi</a:t>
            </a:r>
            <a:endParaRPr lang="en-US" dirty="0"/>
          </a:p>
          <a:p>
            <a:pPr lvl="1"/>
            <a:r>
              <a:rPr lang="en-US" dirty="0" err="1"/>
              <a:t>Dimensi</a:t>
            </a:r>
            <a:r>
              <a:rPr lang="en-US" dirty="0"/>
              <a:t> ke-1 </a:t>
            </a:r>
            <a:r>
              <a:rPr lang="en-US" dirty="0">
                <a:sym typeface="Wingdings" panose="05000000000000000000" pitchFamily="2" charset="2"/>
              </a:rPr>
              <a:t> baris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Dimensi</a:t>
            </a:r>
            <a:r>
              <a:rPr lang="en-US" dirty="0">
                <a:sym typeface="Wingdings" panose="05000000000000000000" pitchFamily="2" charset="2"/>
              </a:rPr>
              <a:t> ke-2  </a:t>
            </a:r>
            <a:r>
              <a:rPr lang="en-US" dirty="0" err="1">
                <a:sym typeface="Wingdings" panose="05000000000000000000" pitchFamily="2" charset="2"/>
              </a:rPr>
              <a:t>kolom</a:t>
            </a:r>
            <a:endParaRPr lang="en-US" dirty="0"/>
          </a:p>
          <a:p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anggota</a:t>
            </a:r>
            <a:r>
              <a:rPr lang="en-US" dirty="0"/>
              <a:t>,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kosong</a:t>
            </a:r>
            <a:endParaRPr lang="en-US" dirty="0"/>
          </a:p>
          <a:p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(value/info)</a:t>
            </a:r>
          </a:p>
          <a:p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diakses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posisi</a:t>
            </a:r>
            <a:r>
              <a:rPr lang="en-US" dirty="0"/>
              <a:t> baris dan </a:t>
            </a:r>
            <a:r>
              <a:rPr lang="en-US" dirty="0" err="1"/>
              <a:t>kolom</a:t>
            </a:r>
            <a:r>
              <a:rPr lang="en-US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29656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6EC4-F203-2F23-C4D0-9D4623144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Matriks</a:t>
            </a:r>
            <a:r>
              <a:rPr lang="en-US" dirty="0"/>
              <a:t> 2 </a:t>
            </a:r>
            <a:r>
              <a:rPr lang="en-US" dirty="0" err="1"/>
              <a:t>dimensi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82332-AA63-6E8A-30DD-7FA0E66CA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unit </a:t>
            </a:r>
            <a:r>
              <a:rPr lang="en-US" dirty="0" err="1"/>
              <a:t>koleksi</a:t>
            </a:r>
            <a:r>
              <a:rPr lang="en-US" dirty="0"/>
              <a:t> 2 </a:t>
            </a:r>
            <a:r>
              <a:rPr lang="en-US" dirty="0" err="1"/>
              <a:t>dimensi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secara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lojik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r>
              <a:rPr lang="en-US" dirty="0" err="1">
                <a:sym typeface="Wingdings" panose="05000000000000000000" pitchFamily="2" charset="2"/>
              </a:rPr>
              <a:t>Dalam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memori</a:t>
            </a:r>
            <a:r>
              <a:rPr lang="en-US" dirty="0">
                <a:sym typeface="Wingdings" panose="05000000000000000000" pitchFamily="2" charset="2"/>
              </a:rPr>
              <a:t> computer </a:t>
            </a:r>
            <a:r>
              <a:rPr lang="en-US" dirty="0" err="1">
                <a:sym typeface="Wingdings" panose="05000000000000000000" pitchFamily="2" charset="2"/>
              </a:rPr>
              <a:t>elemen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matriks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tetap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sebagai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deretan</a:t>
            </a:r>
            <a:r>
              <a:rPr lang="en-US" dirty="0">
                <a:sym typeface="Wingdings" panose="05000000000000000000" pitchFamily="2" charset="2"/>
              </a:rPr>
              <a:t> linier.</a:t>
            </a:r>
          </a:p>
          <a:p>
            <a:r>
              <a:rPr lang="en-US" dirty="0" err="1">
                <a:sym typeface="Wingdings" panose="05000000000000000000" pitchFamily="2" charset="2"/>
              </a:rPr>
              <a:t>Contoh</a:t>
            </a:r>
            <a:r>
              <a:rPr lang="en-US" dirty="0">
                <a:sym typeface="Wingdings" panose="05000000000000000000" pitchFamily="2" charset="2"/>
              </a:rPr>
              <a:t>: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pPr>
              <a:spcAft>
                <a:spcPts val="1200"/>
              </a:spcAft>
            </a:pPr>
            <a:r>
              <a:rPr lang="en-US" dirty="0" err="1">
                <a:sym typeface="Wingdings" panose="05000000000000000000" pitchFamily="2" charset="2"/>
              </a:rPr>
              <a:t>Penyimpanan</a:t>
            </a:r>
            <a:r>
              <a:rPr lang="en-US" dirty="0">
                <a:sym typeface="Wingdings" panose="05000000000000000000" pitchFamily="2" charset="2"/>
              </a:rPr>
              <a:t> linear </a:t>
            </a:r>
            <a:r>
              <a:rPr lang="en-US" dirty="0" err="1">
                <a:sym typeface="Wingdings" panose="05000000000000000000" pitchFamily="2" charset="2"/>
              </a:rPr>
              <a:t>kontigu</a:t>
            </a:r>
            <a:r>
              <a:rPr lang="en-US" dirty="0">
                <a:sym typeface="Wingdings" panose="05000000000000000000" pitchFamily="2" charset="2"/>
              </a:rPr>
              <a:t> per baris:</a:t>
            </a:r>
          </a:p>
          <a:p>
            <a:r>
              <a:rPr lang="en-US" dirty="0" err="1">
                <a:sym typeface="Wingdings" panose="05000000000000000000" pitchFamily="2" charset="2"/>
              </a:rPr>
              <a:t>Penyimpanan</a:t>
            </a:r>
            <a:r>
              <a:rPr lang="en-US" dirty="0">
                <a:sym typeface="Wingdings" panose="05000000000000000000" pitchFamily="2" charset="2"/>
              </a:rPr>
              <a:t> linier </a:t>
            </a:r>
            <a:r>
              <a:rPr lang="en-US" dirty="0" err="1">
                <a:sym typeface="Wingdings" panose="05000000000000000000" pitchFamily="2" charset="2"/>
              </a:rPr>
              <a:t>kontigu</a:t>
            </a:r>
            <a:r>
              <a:rPr lang="en-US" dirty="0">
                <a:sym typeface="Wingdings" panose="05000000000000000000" pitchFamily="2" charset="2"/>
              </a:rPr>
              <a:t> per </a:t>
            </a:r>
            <a:r>
              <a:rPr lang="en-US" dirty="0" err="1">
                <a:sym typeface="Wingdings" panose="05000000000000000000" pitchFamily="2" charset="2"/>
              </a:rPr>
              <a:t>kolom</a:t>
            </a:r>
            <a:r>
              <a:rPr lang="en-US" dirty="0">
                <a:sym typeface="Wingdings" panose="05000000000000000000" pitchFamily="2" charset="2"/>
              </a:rPr>
              <a:t>:</a:t>
            </a:r>
            <a:endParaRPr lang="en-ID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F186F8-0023-C84B-2E98-0392614FB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282814"/>
              </p:ext>
            </p:extLst>
          </p:nvPr>
        </p:nvGraphicFramePr>
        <p:xfrm>
          <a:off x="2192022" y="3429000"/>
          <a:ext cx="219709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2366">
                  <a:extLst>
                    <a:ext uri="{9D8B030D-6E8A-4147-A177-3AD203B41FA5}">
                      <a16:colId xmlns:a16="http://schemas.microsoft.com/office/drawing/2014/main" val="714331581"/>
                    </a:ext>
                  </a:extLst>
                </a:gridCol>
                <a:gridCol w="732366">
                  <a:extLst>
                    <a:ext uri="{9D8B030D-6E8A-4147-A177-3AD203B41FA5}">
                      <a16:colId xmlns:a16="http://schemas.microsoft.com/office/drawing/2014/main" val="2391846855"/>
                    </a:ext>
                  </a:extLst>
                </a:gridCol>
                <a:gridCol w="732366">
                  <a:extLst>
                    <a:ext uri="{9D8B030D-6E8A-4147-A177-3AD203B41FA5}">
                      <a16:colId xmlns:a16="http://schemas.microsoft.com/office/drawing/2014/main" val="186609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264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83286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C96AB0-ACE1-39FB-5201-EE61AD090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248129"/>
              </p:ext>
            </p:extLst>
          </p:nvPr>
        </p:nvGraphicFramePr>
        <p:xfrm>
          <a:off x="6664962" y="4549140"/>
          <a:ext cx="426211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0353">
                  <a:extLst>
                    <a:ext uri="{9D8B030D-6E8A-4147-A177-3AD203B41FA5}">
                      <a16:colId xmlns:a16="http://schemas.microsoft.com/office/drawing/2014/main" val="714331581"/>
                    </a:ext>
                  </a:extLst>
                </a:gridCol>
                <a:gridCol w="710353">
                  <a:extLst>
                    <a:ext uri="{9D8B030D-6E8A-4147-A177-3AD203B41FA5}">
                      <a16:colId xmlns:a16="http://schemas.microsoft.com/office/drawing/2014/main" val="2391846855"/>
                    </a:ext>
                  </a:extLst>
                </a:gridCol>
                <a:gridCol w="710353">
                  <a:extLst>
                    <a:ext uri="{9D8B030D-6E8A-4147-A177-3AD203B41FA5}">
                      <a16:colId xmlns:a16="http://schemas.microsoft.com/office/drawing/2014/main" val="1866090024"/>
                    </a:ext>
                  </a:extLst>
                </a:gridCol>
                <a:gridCol w="710353">
                  <a:extLst>
                    <a:ext uri="{9D8B030D-6E8A-4147-A177-3AD203B41FA5}">
                      <a16:colId xmlns:a16="http://schemas.microsoft.com/office/drawing/2014/main" val="3697280491"/>
                    </a:ext>
                  </a:extLst>
                </a:gridCol>
                <a:gridCol w="710353">
                  <a:extLst>
                    <a:ext uri="{9D8B030D-6E8A-4147-A177-3AD203B41FA5}">
                      <a16:colId xmlns:a16="http://schemas.microsoft.com/office/drawing/2014/main" val="2539555227"/>
                    </a:ext>
                  </a:extLst>
                </a:gridCol>
                <a:gridCol w="710353">
                  <a:extLst>
                    <a:ext uri="{9D8B030D-6E8A-4147-A177-3AD203B41FA5}">
                      <a16:colId xmlns:a16="http://schemas.microsoft.com/office/drawing/2014/main" val="1084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26454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E46017-552F-6B93-FD57-D0597935E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496849"/>
              </p:ext>
            </p:extLst>
          </p:nvPr>
        </p:nvGraphicFramePr>
        <p:xfrm>
          <a:off x="6664962" y="5229861"/>
          <a:ext cx="426211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0353">
                  <a:extLst>
                    <a:ext uri="{9D8B030D-6E8A-4147-A177-3AD203B41FA5}">
                      <a16:colId xmlns:a16="http://schemas.microsoft.com/office/drawing/2014/main" val="714331581"/>
                    </a:ext>
                  </a:extLst>
                </a:gridCol>
                <a:gridCol w="710353">
                  <a:extLst>
                    <a:ext uri="{9D8B030D-6E8A-4147-A177-3AD203B41FA5}">
                      <a16:colId xmlns:a16="http://schemas.microsoft.com/office/drawing/2014/main" val="2391846855"/>
                    </a:ext>
                  </a:extLst>
                </a:gridCol>
                <a:gridCol w="710353">
                  <a:extLst>
                    <a:ext uri="{9D8B030D-6E8A-4147-A177-3AD203B41FA5}">
                      <a16:colId xmlns:a16="http://schemas.microsoft.com/office/drawing/2014/main" val="1866090024"/>
                    </a:ext>
                  </a:extLst>
                </a:gridCol>
                <a:gridCol w="710353">
                  <a:extLst>
                    <a:ext uri="{9D8B030D-6E8A-4147-A177-3AD203B41FA5}">
                      <a16:colId xmlns:a16="http://schemas.microsoft.com/office/drawing/2014/main" val="3697280491"/>
                    </a:ext>
                  </a:extLst>
                </a:gridCol>
                <a:gridCol w="710353">
                  <a:extLst>
                    <a:ext uri="{9D8B030D-6E8A-4147-A177-3AD203B41FA5}">
                      <a16:colId xmlns:a16="http://schemas.microsoft.com/office/drawing/2014/main" val="2539555227"/>
                    </a:ext>
                  </a:extLst>
                </a:gridCol>
                <a:gridCol w="710353">
                  <a:extLst>
                    <a:ext uri="{9D8B030D-6E8A-4147-A177-3AD203B41FA5}">
                      <a16:colId xmlns:a16="http://schemas.microsoft.com/office/drawing/2014/main" val="1084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264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594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6EC4-F203-2F23-C4D0-9D4623144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2 </a:t>
            </a:r>
            <a:r>
              <a:rPr lang="en-US" dirty="0" err="1"/>
              <a:t>dimensi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82332-AA63-6E8A-30DD-7FA0E66CA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bulat</a:t>
            </a:r>
            <a:endParaRPr lang="en-US" dirty="0">
              <a:sym typeface="Wingdings" panose="05000000000000000000" pitchFamily="2" charset="2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F186F8-0023-C84B-2E98-0392614FB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789923"/>
              </p:ext>
            </p:extLst>
          </p:nvPr>
        </p:nvGraphicFramePr>
        <p:xfrm>
          <a:off x="1049022" y="2686050"/>
          <a:ext cx="4814568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2428">
                  <a:extLst>
                    <a:ext uri="{9D8B030D-6E8A-4147-A177-3AD203B41FA5}">
                      <a16:colId xmlns:a16="http://schemas.microsoft.com/office/drawing/2014/main" val="714331581"/>
                    </a:ext>
                  </a:extLst>
                </a:gridCol>
                <a:gridCol w="802428">
                  <a:extLst>
                    <a:ext uri="{9D8B030D-6E8A-4147-A177-3AD203B41FA5}">
                      <a16:colId xmlns:a16="http://schemas.microsoft.com/office/drawing/2014/main" val="2391846855"/>
                    </a:ext>
                  </a:extLst>
                </a:gridCol>
                <a:gridCol w="802428">
                  <a:extLst>
                    <a:ext uri="{9D8B030D-6E8A-4147-A177-3AD203B41FA5}">
                      <a16:colId xmlns:a16="http://schemas.microsoft.com/office/drawing/2014/main" val="1866090024"/>
                    </a:ext>
                  </a:extLst>
                </a:gridCol>
                <a:gridCol w="802428">
                  <a:extLst>
                    <a:ext uri="{9D8B030D-6E8A-4147-A177-3AD203B41FA5}">
                      <a16:colId xmlns:a16="http://schemas.microsoft.com/office/drawing/2014/main" val="1127594495"/>
                    </a:ext>
                  </a:extLst>
                </a:gridCol>
                <a:gridCol w="802428">
                  <a:extLst>
                    <a:ext uri="{9D8B030D-6E8A-4147-A177-3AD203B41FA5}">
                      <a16:colId xmlns:a16="http://schemas.microsoft.com/office/drawing/2014/main" val="2085303312"/>
                    </a:ext>
                  </a:extLst>
                </a:gridCol>
                <a:gridCol w="802428">
                  <a:extLst>
                    <a:ext uri="{9D8B030D-6E8A-4147-A177-3AD203B41FA5}">
                      <a16:colId xmlns:a16="http://schemas.microsoft.com/office/drawing/2014/main" val="6114406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264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-7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83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-8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391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522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895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275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805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6EC4-F203-2F23-C4D0-9D4623144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2 </a:t>
            </a:r>
            <a:r>
              <a:rPr lang="en-US" dirty="0" err="1"/>
              <a:t>dimensi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82332-AA63-6E8A-30DD-7FA0E66CA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kota</a:t>
            </a:r>
            <a:endParaRPr lang="en-US" dirty="0"/>
          </a:p>
          <a:p>
            <a:pPr marL="6457950" indent="-446088"/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/baris</a:t>
            </a:r>
          </a:p>
          <a:p>
            <a:pPr marL="6915150" lvl="1" indent="-446088"/>
            <a:r>
              <a:rPr lang="en-US" dirty="0"/>
              <a:t>1 = Jakarta</a:t>
            </a:r>
          </a:p>
          <a:p>
            <a:pPr marL="6915150" lvl="1" indent="-446088"/>
            <a:r>
              <a:rPr lang="en-US" dirty="0"/>
              <a:t>2 = Semarang</a:t>
            </a:r>
          </a:p>
          <a:p>
            <a:pPr marL="6915150" lvl="1" indent="-446088"/>
            <a:r>
              <a:rPr lang="en-US" dirty="0"/>
              <a:t>3 = Surabaya</a:t>
            </a:r>
          </a:p>
          <a:p>
            <a:pPr marL="6915150" lvl="1" indent="-446088"/>
            <a:r>
              <a:rPr lang="en-US" dirty="0"/>
              <a:t>4 = Bandung</a:t>
            </a:r>
          </a:p>
          <a:p>
            <a:pPr marL="6915150" lvl="1" indent="-446088"/>
            <a:r>
              <a:rPr lang="en-US" dirty="0"/>
              <a:t>5 = Yogyakarta  </a:t>
            </a:r>
          </a:p>
          <a:p>
            <a:pPr marL="6457950" indent="-446088"/>
            <a:r>
              <a:rPr lang="en-US" dirty="0"/>
              <a:t>Isi cell:</a:t>
            </a:r>
          </a:p>
          <a:p>
            <a:pPr marL="6915150" lvl="1" indent="-446088"/>
            <a:r>
              <a:rPr lang="en-US" dirty="0"/>
              <a:t>Jarak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satuan</a:t>
            </a:r>
            <a:r>
              <a:rPr lang="en-US" dirty="0"/>
              <a:t> km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F186F8-0023-C84B-2E98-0392614FB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440448"/>
              </p:ext>
            </p:extLst>
          </p:nvPr>
        </p:nvGraphicFramePr>
        <p:xfrm>
          <a:off x="1049022" y="2686050"/>
          <a:ext cx="4814568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2428">
                  <a:extLst>
                    <a:ext uri="{9D8B030D-6E8A-4147-A177-3AD203B41FA5}">
                      <a16:colId xmlns:a16="http://schemas.microsoft.com/office/drawing/2014/main" val="714331581"/>
                    </a:ext>
                  </a:extLst>
                </a:gridCol>
                <a:gridCol w="802428">
                  <a:extLst>
                    <a:ext uri="{9D8B030D-6E8A-4147-A177-3AD203B41FA5}">
                      <a16:colId xmlns:a16="http://schemas.microsoft.com/office/drawing/2014/main" val="2391846855"/>
                    </a:ext>
                  </a:extLst>
                </a:gridCol>
                <a:gridCol w="802428">
                  <a:extLst>
                    <a:ext uri="{9D8B030D-6E8A-4147-A177-3AD203B41FA5}">
                      <a16:colId xmlns:a16="http://schemas.microsoft.com/office/drawing/2014/main" val="1866090024"/>
                    </a:ext>
                  </a:extLst>
                </a:gridCol>
                <a:gridCol w="802428">
                  <a:extLst>
                    <a:ext uri="{9D8B030D-6E8A-4147-A177-3AD203B41FA5}">
                      <a16:colId xmlns:a16="http://schemas.microsoft.com/office/drawing/2014/main" val="1127594495"/>
                    </a:ext>
                  </a:extLst>
                </a:gridCol>
                <a:gridCol w="802428">
                  <a:extLst>
                    <a:ext uri="{9D8B030D-6E8A-4147-A177-3AD203B41FA5}">
                      <a16:colId xmlns:a16="http://schemas.microsoft.com/office/drawing/2014/main" val="2085303312"/>
                    </a:ext>
                  </a:extLst>
                </a:gridCol>
                <a:gridCol w="802428">
                  <a:extLst>
                    <a:ext uri="{9D8B030D-6E8A-4147-A177-3AD203B41FA5}">
                      <a16:colId xmlns:a16="http://schemas.microsoft.com/office/drawing/2014/main" val="6114406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264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83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391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522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895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4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275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8463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6EC4-F203-2F23-C4D0-9D4623144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2 </a:t>
            </a:r>
            <a:r>
              <a:rPr lang="en-US" dirty="0" err="1"/>
              <a:t>dimensi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82332-AA63-6E8A-30DD-7FA0E66CA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44370"/>
            <a:ext cx="8138160" cy="4351338"/>
          </a:xfrm>
        </p:spPr>
        <p:txBody>
          <a:bodyPr/>
          <a:lstStyle/>
          <a:p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jadwal</a:t>
            </a:r>
            <a:r>
              <a:rPr lang="en-US" dirty="0"/>
              <a:t> </a:t>
            </a:r>
            <a:r>
              <a:rPr lang="en-US" dirty="0" err="1"/>
              <a:t>pelajaran</a:t>
            </a:r>
            <a:endParaRPr lang="en-US" dirty="0"/>
          </a:p>
          <a:p>
            <a:pPr marL="6011862" indent="0">
              <a:buNone/>
            </a:pPr>
            <a:r>
              <a:rPr lang="en-US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F186F8-0023-C84B-2E98-0392614FB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575383"/>
              </p:ext>
            </p:extLst>
          </p:nvPr>
        </p:nvGraphicFramePr>
        <p:xfrm>
          <a:off x="1049022" y="2686050"/>
          <a:ext cx="7089138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1523">
                  <a:extLst>
                    <a:ext uri="{9D8B030D-6E8A-4147-A177-3AD203B41FA5}">
                      <a16:colId xmlns:a16="http://schemas.microsoft.com/office/drawing/2014/main" val="714331581"/>
                    </a:ext>
                  </a:extLst>
                </a:gridCol>
                <a:gridCol w="1181523">
                  <a:extLst>
                    <a:ext uri="{9D8B030D-6E8A-4147-A177-3AD203B41FA5}">
                      <a16:colId xmlns:a16="http://schemas.microsoft.com/office/drawing/2014/main" val="2391846855"/>
                    </a:ext>
                  </a:extLst>
                </a:gridCol>
                <a:gridCol w="1181523">
                  <a:extLst>
                    <a:ext uri="{9D8B030D-6E8A-4147-A177-3AD203B41FA5}">
                      <a16:colId xmlns:a16="http://schemas.microsoft.com/office/drawing/2014/main" val="1866090024"/>
                    </a:ext>
                  </a:extLst>
                </a:gridCol>
                <a:gridCol w="1181523">
                  <a:extLst>
                    <a:ext uri="{9D8B030D-6E8A-4147-A177-3AD203B41FA5}">
                      <a16:colId xmlns:a16="http://schemas.microsoft.com/office/drawing/2014/main" val="1127594495"/>
                    </a:ext>
                  </a:extLst>
                </a:gridCol>
                <a:gridCol w="1181523">
                  <a:extLst>
                    <a:ext uri="{9D8B030D-6E8A-4147-A177-3AD203B41FA5}">
                      <a16:colId xmlns:a16="http://schemas.microsoft.com/office/drawing/2014/main" val="2085303312"/>
                    </a:ext>
                  </a:extLst>
                </a:gridCol>
                <a:gridCol w="1181523">
                  <a:extLst>
                    <a:ext uri="{9D8B030D-6E8A-4147-A177-3AD203B41FA5}">
                      <a16:colId xmlns:a16="http://schemas.microsoft.com/office/drawing/2014/main" val="6114406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264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Mat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IPS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BhsInd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Seni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OR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83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Mat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IPS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BhsInd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Seni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OR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391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Mat 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IPS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BhsInd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BhsJw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PAI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522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IPA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PPKn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BhsIng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BhsJw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PAI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895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  <a:endParaRPr lang="en-ID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IPA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PPKn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BhsIng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BhsJw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PAI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275156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4BE637E-58E5-1627-DA0A-07084D747CF3}"/>
              </a:ext>
            </a:extLst>
          </p:cNvPr>
          <p:cNvSpPr txBox="1">
            <a:spLocks/>
          </p:cNvSpPr>
          <p:nvPr/>
        </p:nvSpPr>
        <p:spPr>
          <a:xfrm>
            <a:off x="8549640" y="1679892"/>
            <a:ext cx="3133092" cy="4515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dirty="0" err="1"/>
              <a:t>Indeks</a:t>
            </a:r>
            <a:r>
              <a:rPr lang="en-US" sz="2200" dirty="0"/>
              <a:t> baris (slot jam):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200" dirty="0"/>
              <a:t>1 = 07.00 – 08.00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200" dirty="0"/>
              <a:t>2 = 08.00 – 09.00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200" dirty="0"/>
              <a:t>3 = 09.00 – 10.00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200" dirty="0"/>
              <a:t>4 = 10.30 – 11.30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200" dirty="0"/>
              <a:t>5 = 11.30 – 12.30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dirty="0" err="1"/>
              <a:t>Indeks</a:t>
            </a:r>
            <a:r>
              <a:rPr lang="en-US" sz="2200" dirty="0"/>
              <a:t> </a:t>
            </a:r>
            <a:r>
              <a:rPr lang="en-US" sz="2200" dirty="0" err="1"/>
              <a:t>kolom</a:t>
            </a:r>
            <a:r>
              <a:rPr lang="en-US" sz="2200" dirty="0"/>
              <a:t> (</a:t>
            </a:r>
            <a:r>
              <a:rPr lang="en-US" sz="2200" dirty="0" err="1"/>
              <a:t>hari</a:t>
            </a:r>
            <a:r>
              <a:rPr lang="en-US" sz="2200" dirty="0"/>
              <a:t>):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200" dirty="0"/>
              <a:t>1 = </a:t>
            </a:r>
            <a:r>
              <a:rPr lang="en-US" sz="2200" dirty="0" err="1"/>
              <a:t>senin</a:t>
            </a:r>
            <a:r>
              <a:rPr lang="en-US" sz="2200" dirty="0"/>
              <a:t>; 2= </a:t>
            </a:r>
            <a:r>
              <a:rPr lang="en-US" sz="2200" dirty="0" err="1"/>
              <a:t>selasa</a:t>
            </a:r>
            <a:endParaRPr lang="en-US" sz="22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200" dirty="0"/>
              <a:t>3 = </a:t>
            </a:r>
            <a:r>
              <a:rPr lang="en-US" sz="2200" dirty="0" err="1"/>
              <a:t>rabu</a:t>
            </a:r>
            <a:r>
              <a:rPr lang="en-US" sz="2200" dirty="0"/>
              <a:t>; 4 = </a:t>
            </a:r>
            <a:r>
              <a:rPr lang="en-US" sz="2200" dirty="0" err="1"/>
              <a:t>kamis</a:t>
            </a:r>
            <a:endParaRPr lang="en-US" sz="22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200" dirty="0"/>
              <a:t>5 = </a:t>
            </a:r>
            <a:r>
              <a:rPr lang="en-US" sz="2200" dirty="0" err="1"/>
              <a:t>jumat</a:t>
            </a:r>
            <a:endParaRPr lang="en-US" sz="2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dirty="0"/>
              <a:t>Isi cell: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200" dirty="0"/>
              <a:t>Nama </a:t>
            </a:r>
            <a:r>
              <a:rPr lang="en-US" sz="2200" dirty="0" err="1"/>
              <a:t>mata</a:t>
            </a:r>
            <a:r>
              <a:rPr lang="en-US" sz="2200" dirty="0"/>
              <a:t> </a:t>
            </a:r>
            <a:r>
              <a:rPr lang="en-US" sz="2200" dirty="0" err="1"/>
              <a:t>pelajaran</a:t>
            </a:r>
            <a:r>
              <a:rPr lang="en-US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47360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6EC4-F203-2F23-C4D0-9D4623144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in Computer Science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82332-AA63-6E8A-30DD-7FA0E66CA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44370"/>
            <a:ext cx="8138160" cy="4351338"/>
          </a:xfrm>
        </p:spPr>
        <p:txBody>
          <a:bodyPr/>
          <a:lstStyle/>
          <a:p>
            <a:r>
              <a:rPr lang="en-US" dirty="0"/>
              <a:t>Image in Computer Vision</a:t>
            </a:r>
          </a:p>
          <a:p>
            <a:pPr marL="6011862" indent="0">
              <a:buNone/>
            </a:pPr>
            <a:r>
              <a:rPr lang="en-US" dirty="0"/>
              <a:t> 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1547FC77-E90F-1A4E-45EE-4B54497AC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1340" y="2531629"/>
            <a:ext cx="5989320" cy="350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54D92C-27BA-19D6-3DE3-2B70BC423CF4}"/>
              </a:ext>
            </a:extLst>
          </p:cNvPr>
          <p:cNvSpPr txBox="1"/>
          <p:nvPr/>
        </p:nvSpPr>
        <p:spPr>
          <a:xfrm>
            <a:off x="704850" y="6038454"/>
            <a:ext cx="111432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400" dirty="0"/>
              <a:t>https://www.oreilly.com/library/view/hands-on-java-deep/9781789613964/afdd15c9-edf7-416f-8a0a-f29c029c8634.xhtml</a:t>
            </a:r>
          </a:p>
        </p:txBody>
      </p:sp>
    </p:spTree>
    <p:extLst>
      <p:ext uri="{BB962C8B-B14F-4D97-AF65-F5344CB8AC3E}">
        <p14:creationId xmlns:p14="http://schemas.microsoft.com/office/powerpoint/2010/main" val="290551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6EC4-F203-2F23-C4D0-9D4623144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in Computer Science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82332-AA63-6E8A-30DD-7FA0E66CA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44370"/>
            <a:ext cx="11143296" cy="4351338"/>
          </a:xfrm>
        </p:spPr>
        <p:txBody>
          <a:bodyPr/>
          <a:lstStyle/>
          <a:p>
            <a:r>
              <a:rPr lang="en-US" dirty="0"/>
              <a:t>Document term matrix in NLP (Natural Language Processing)</a:t>
            </a:r>
          </a:p>
          <a:p>
            <a:pPr marL="6011862" indent="0">
              <a:buNone/>
            </a:pPr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54D92C-27BA-19D6-3DE3-2B70BC423CF4}"/>
              </a:ext>
            </a:extLst>
          </p:cNvPr>
          <p:cNvSpPr txBox="1"/>
          <p:nvPr/>
        </p:nvSpPr>
        <p:spPr>
          <a:xfrm>
            <a:off x="990601" y="6066225"/>
            <a:ext cx="94564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400" dirty="0"/>
              <a:t>https://qph.cf2.quoracdn.net/main-qimg-27639a9e2f88baab88a2c575a1de2005-pjlq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6CA628A-B9BD-37EE-331D-6F86C317F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8927" y="2505978"/>
            <a:ext cx="5640705" cy="344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54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EC651-4F0B-F46D-95B0-D17283F2B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	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31637-5D19-0345-F11E-91120A1F7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766569"/>
            <a:ext cx="11612880" cy="46504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&lt; cell: </a:t>
            </a:r>
            <a:r>
              <a:rPr lang="en-US" sz="22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[1…100] </a:t>
            </a:r>
            <a:r>
              <a:rPr lang="en-US" sz="22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[1…100] </a:t>
            </a:r>
            <a:r>
              <a:rPr lang="en-US" sz="22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nbaris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2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						       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nkolom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2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2200" dirty="0"/>
              <a:t>Jika </a:t>
            </a:r>
            <a:r>
              <a:rPr lang="en-US" sz="2200" dirty="0" err="1"/>
              <a:t>dideklarasi</a:t>
            </a:r>
            <a:r>
              <a:rPr lang="en-US" sz="2200" dirty="0"/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M: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M.cell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mengembalikan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cell 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seluruh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elemen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matriks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)}</a:t>
            </a:r>
          </a:p>
          <a:p>
            <a:pPr lvl="1">
              <a:lnSpc>
                <a:spcPct val="100000"/>
              </a:lnSpc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M.cell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[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i,j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]{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mengembalikan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elemen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cell pada baris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ke-i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dan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kolom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ke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-j}</a:t>
            </a:r>
          </a:p>
          <a:p>
            <a:pPr lvl="1">
              <a:lnSpc>
                <a:spcPct val="100000"/>
              </a:lnSpc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M.nbaris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{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mengembalikan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banyaknya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baris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matriks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yang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terisi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</a:p>
          <a:p>
            <a:pPr lvl="1">
              <a:lnSpc>
                <a:spcPct val="100000"/>
              </a:lnSpc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M.nkolom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{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mengembalikan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banyaknya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kolom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matriks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yang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terisi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00000"/>
              </a:lnSpc>
            </a:pP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831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DD820B9-DFD4-4254-F9CE-0FA862178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480" y="887412"/>
            <a:ext cx="10525099" cy="5543869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9C0759-DF52-9594-E146-F1FE11476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 </a:t>
            </a:r>
            <a:r>
              <a:rPr lang="en-US" dirty="0" err="1"/>
              <a:t>Matriks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34661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A52BC-4AAF-E9D8-E4AD-0D58DABE0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 </a:t>
            </a:r>
            <a:r>
              <a:rPr lang="en-US" dirty="0" err="1"/>
              <a:t>Matriks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4807FE-8B59-3708-8527-5E2527EDAB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6497" y="421911"/>
            <a:ext cx="7569910" cy="5995083"/>
          </a:xfrm>
        </p:spPr>
      </p:pic>
    </p:spTree>
    <p:extLst>
      <p:ext uri="{BB962C8B-B14F-4D97-AF65-F5344CB8AC3E}">
        <p14:creationId xmlns:p14="http://schemas.microsoft.com/office/powerpoint/2010/main" val="3920510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A1848-9A8E-562C-256D-966B3C178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Primitif</a:t>
            </a:r>
            <a:r>
              <a:rPr lang="en-US" dirty="0"/>
              <a:t> </a:t>
            </a:r>
            <a:r>
              <a:rPr lang="en-US" dirty="0" err="1"/>
              <a:t>Matriks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9CC77-EEA3-E05C-5955-50F66727C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45920"/>
            <a:ext cx="11404600" cy="49149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Initiator: </a:t>
            </a:r>
          </a:p>
          <a:p>
            <a:pPr lvl="1"/>
            <a:r>
              <a:rPr lang="en-US" dirty="0" err="1"/>
              <a:t>initMatriks</a:t>
            </a:r>
            <a:r>
              <a:rPr lang="en-US" dirty="0"/>
              <a:t>: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kosong</a:t>
            </a:r>
            <a:r>
              <a:rPr lang="en-US" dirty="0"/>
              <a:t>, </a:t>
            </a:r>
            <a:r>
              <a:rPr lang="en-US" dirty="0" err="1"/>
              <a:t>nbaris</a:t>
            </a:r>
            <a:r>
              <a:rPr lang="en-US" dirty="0"/>
              <a:t>=0, </a:t>
            </a:r>
            <a:r>
              <a:rPr lang="en-US" dirty="0" err="1"/>
              <a:t>nkolom</a:t>
            </a:r>
            <a:r>
              <a:rPr lang="en-US" dirty="0"/>
              <a:t>=0</a:t>
            </a:r>
          </a:p>
          <a:p>
            <a:r>
              <a:rPr lang="en-US" dirty="0" err="1"/>
              <a:t>Selektor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M.cell</a:t>
            </a:r>
            <a:r>
              <a:rPr lang="en-US" dirty="0"/>
              <a:t>[</a:t>
            </a:r>
            <a:r>
              <a:rPr lang="en-US" dirty="0" err="1"/>
              <a:t>i,j</a:t>
            </a:r>
            <a:r>
              <a:rPr lang="en-US" dirty="0"/>
              <a:t>]: </a:t>
            </a:r>
            <a:r>
              <a:rPr lang="en-US" dirty="0" err="1"/>
              <a:t>mengakses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cell pada baris </a:t>
            </a:r>
            <a:r>
              <a:rPr lang="en-US" dirty="0" err="1"/>
              <a:t>ke-i</a:t>
            </a:r>
            <a:r>
              <a:rPr lang="en-US" dirty="0"/>
              <a:t> dan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-j</a:t>
            </a:r>
          </a:p>
          <a:p>
            <a:pPr lvl="1"/>
            <a:r>
              <a:rPr lang="en-US" dirty="0" err="1"/>
              <a:t>getNbaris</a:t>
            </a:r>
            <a:r>
              <a:rPr lang="en-US" dirty="0"/>
              <a:t>: </a:t>
            </a:r>
            <a:r>
              <a:rPr lang="en-US" dirty="0" err="1"/>
              <a:t>mengakses</a:t>
            </a:r>
            <a:r>
              <a:rPr lang="en-US" dirty="0"/>
              <a:t> </a:t>
            </a:r>
            <a:r>
              <a:rPr lang="en-US" dirty="0" err="1"/>
              <a:t>banyaknya</a:t>
            </a:r>
            <a:r>
              <a:rPr lang="en-US" dirty="0"/>
              <a:t> baris </a:t>
            </a:r>
            <a:r>
              <a:rPr lang="en-US" dirty="0" err="1"/>
              <a:t>matrik</a:t>
            </a:r>
            <a:r>
              <a:rPr lang="en-US" dirty="0"/>
              <a:t> yang </a:t>
            </a:r>
            <a:r>
              <a:rPr lang="en-US" dirty="0" err="1"/>
              <a:t>terisi</a:t>
            </a:r>
            <a:endParaRPr lang="en-US" dirty="0"/>
          </a:p>
          <a:p>
            <a:pPr lvl="1"/>
            <a:r>
              <a:rPr lang="en-US" dirty="0" err="1"/>
              <a:t>getNkolom</a:t>
            </a:r>
            <a:r>
              <a:rPr lang="en-US" dirty="0"/>
              <a:t>: </a:t>
            </a:r>
            <a:r>
              <a:rPr lang="en-US" dirty="0" err="1"/>
              <a:t>mengakses</a:t>
            </a:r>
            <a:r>
              <a:rPr lang="en-US" dirty="0"/>
              <a:t> </a:t>
            </a:r>
            <a:r>
              <a:rPr lang="en-US" dirty="0" err="1"/>
              <a:t>banyaknya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yang </a:t>
            </a:r>
            <a:r>
              <a:rPr lang="en-US" dirty="0" err="1"/>
              <a:t>terisi</a:t>
            </a:r>
            <a:endParaRPr lang="en-US" dirty="0"/>
          </a:p>
          <a:p>
            <a:r>
              <a:rPr lang="en-US" dirty="0" err="1"/>
              <a:t>Predikat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isEmptyMatriks</a:t>
            </a:r>
            <a:r>
              <a:rPr lang="en-US" dirty="0"/>
              <a:t>: </a:t>
            </a:r>
            <a:r>
              <a:rPr lang="en-US" dirty="0" err="1"/>
              <a:t>mengecek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kosong</a:t>
            </a:r>
            <a:endParaRPr lang="en-US" dirty="0"/>
          </a:p>
          <a:p>
            <a:pPr lvl="1"/>
            <a:r>
              <a:rPr lang="en-US" dirty="0" err="1"/>
              <a:t>isFullMatriks</a:t>
            </a:r>
            <a:r>
              <a:rPr lang="en-US" dirty="0"/>
              <a:t>: </a:t>
            </a:r>
            <a:r>
              <a:rPr lang="en-US" dirty="0" err="1"/>
              <a:t>mengecek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penuh</a:t>
            </a:r>
            <a:endParaRPr lang="en-US" dirty="0"/>
          </a:p>
          <a:p>
            <a:r>
              <a:rPr lang="en-US" dirty="0" err="1"/>
              <a:t>Operasi</a:t>
            </a:r>
            <a:r>
              <a:rPr lang="en-US" dirty="0"/>
              <a:t> Baca/</a:t>
            </a:r>
            <a:r>
              <a:rPr lang="en-US" dirty="0" err="1"/>
              <a:t>Tulis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printMatriks</a:t>
            </a:r>
            <a:r>
              <a:rPr lang="en-US" dirty="0"/>
              <a:t>: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layar</a:t>
            </a:r>
            <a:endParaRPr lang="en-US" dirty="0"/>
          </a:p>
          <a:p>
            <a:pPr lvl="1"/>
            <a:r>
              <a:rPr lang="en-US" dirty="0" err="1"/>
              <a:t>viewMatriks</a:t>
            </a:r>
            <a:r>
              <a:rPr lang="en-US" dirty="0"/>
              <a:t>: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kosong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layar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7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A1848-9A8E-562C-256D-966B3C178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Primitif</a:t>
            </a:r>
            <a:r>
              <a:rPr lang="en-US" dirty="0"/>
              <a:t> </a:t>
            </a:r>
            <a:r>
              <a:rPr lang="en-US" dirty="0" err="1"/>
              <a:t>Matriks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9CC77-EEA3-E05C-5955-50F66727C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45920"/>
            <a:ext cx="11404600" cy="49149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Mutator: 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addX</a:t>
            </a:r>
            <a:r>
              <a:rPr lang="en-US" dirty="0"/>
              <a:t>: </a:t>
            </a:r>
            <a:r>
              <a:rPr lang="en-US" dirty="0" err="1"/>
              <a:t>menambah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X pada </a:t>
            </a:r>
            <a:r>
              <a:rPr lang="en-US" dirty="0" err="1"/>
              <a:t>matriks</a:t>
            </a:r>
            <a:r>
              <a:rPr lang="en-US" dirty="0"/>
              <a:t> pada baris dan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tertentu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 err="1"/>
              <a:t>delX</a:t>
            </a:r>
            <a:r>
              <a:rPr lang="en-US" dirty="0"/>
              <a:t>: </a:t>
            </a:r>
            <a:r>
              <a:rPr lang="en-US" dirty="0" err="1"/>
              <a:t>menghapus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pada baris dan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tertentu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 err="1"/>
              <a:t>delAllX</a:t>
            </a:r>
            <a:r>
              <a:rPr lang="en-US" dirty="0"/>
              <a:t>: </a:t>
            </a:r>
            <a:r>
              <a:rPr lang="en-US" dirty="0" err="1"/>
              <a:t>menghapus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X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matriks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 err="1"/>
              <a:t>editElmt</a:t>
            </a:r>
            <a:r>
              <a:rPr lang="en-US" dirty="0"/>
              <a:t>: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pada baris dan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Mutator </a:t>
            </a:r>
            <a:r>
              <a:rPr lang="en-US" dirty="0" err="1"/>
              <a:t>khusus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integer agar baris 1…</a:t>
            </a:r>
            <a:r>
              <a:rPr lang="en-US" dirty="0" err="1"/>
              <a:t>nbaris</a:t>
            </a:r>
            <a:r>
              <a:rPr lang="en-US" dirty="0"/>
              <a:t> dan </a:t>
            </a:r>
            <a:r>
              <a:rPr lang="en-US" dirty="0" err="1"/>
              <a:t>kolom</a:t>
            </a:r>
            <a:r>
              <a:rPr lang="en-US" dirty="0"/>
              <a:t> 1..nkolom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terisi</a:t>
            </a:r>
            <a:r>
              <a:rPr lang="en-US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isiMatriksRandom</a:t>
            </a:r>
            <a:r>
              <a:rPr lang="en-US" dirty="0"/>
              <a:t>: </a:t>
            </a:r>
            <a:r>
              <a:rPr lang="en-US" dirty="0" err="1"/>
              <a:t>mengisi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integer random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baris dan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isiMatriksIdentitas</a:t>
            </a:r>
            <a:r>
              <a:rPr lang="en-US" dirty="0"/>
              <a:t>: </a:t>
            </a:r>
            <a:r>
              <a:rPr lang="en-US" dirty="0" err="1"/>
              <a:t>mengisi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identitas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baris dan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populateMatriks</a:t>
            </a:r>
            <a:r>
              <a:rPr lang="en-US" dirty="0"/>
              <a:t>: </a:t>
            </a:r>
            <a:r>
              <a:rPr lang="en-US" dirty="0" err="1"/>
              <a:t>mengisi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meminta</a:t>
            </a:r>
            <a:r>
              <a:rPr lang="en-US" dirty="0"/>
              <a:t> </a:t>
            </a:r>
            <a:r>
              <a:rPr lang="en-US" dirty="0" err="1"/>
              <a:t>masukan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keyboard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baris dan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tertentu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097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A1848-9A8E-562C-256D-966B3C178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Primitif</a:t>
            </a:r>
            <a:r>
              <a:rPr lang="en-US" dirty="0"/>
              <a:t> </a:t>
            </a:r>
            <a:r>
              <a:rPr lang="en-US" dirty="0" err="1"/>
              <a:t>Matriks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9CC77-EEA3-E05C-5955-50F66727C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45920"/>
            <a:ext cx="11404600" cy="49149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Operator </a:t>
            </a:r>
            <a:r>
              <a:rPr lang="en-US" dirty="0" err="1"/>
              <a:t>Aritmatika</a:t>
            </a:r>
            <a:r>
              <a:rPr lang="en-US" dirty="0"/>
              <a:t>: 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addMatriks</a:t>
            </a:r>
            <a:r>
              <a:rPr lang="en-US" dirty="0"/>
              <a:t>: </a:t>
            </a:r>
            <a:r>
              <a:rPr lang="en-US" dirty="0" err="1"/>
              <a:t>mengembalikan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penjumlahan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2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M1 dan M2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subMatriks</a:t>
            </a:r>
            <a:r>
              <a:rPr lang="en-US" dirty="0"/>
              <a:t>: </a:t>
            </a:r>
            <a:r>
              <a:rPr lang="en-US" dirty="0" err="1"/>
              <a:t>mengembalikan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pengurangan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M1 </a:t>
            </a:r>
            <a:r>
              <a:rPr lang="en-US" dirty="0" err="1"/>
              <a:t>dengan</a:t>
            </a:r>
            <a:r>
              <a:rPr lang="en-US" dirty="0"/>
              <a:t> M2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kaliMatriks</a:t>
            </a:r>
            <a:r>
              <a:rPr lang="en-US" dirty="0"/>
              <a:t>: </a:t>
            </a:r>
            <a:r>
              <a:rPr lang="en-US" dirty="0" err="1"/>
              <a:t>mengembalikan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perkalian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M1 dan M2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kaliSkalarMatriks</a:t>
            </a:r>
            <a:r>
              <a:rPr lang="en-US" dirty="0"/>
              <a:t>: </a:t>
            </a:r>
            <a:r>
              <a:rPr lang="en-US" dirty="0" err="1"/>
              <a:t>mengembalikan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perkalian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scalar </a:t>
            </a:r>
            <a:r>
              <a:rPr lang="en-US" dirty="0" err="1"/>
              <a:t>tertentu</a:t>
            </a:r>
            <a:r>
              <a:rPr lang="en-US" dirty="0"/>
              <a:t>. </a:t>
            </a:r>
          </a:p>
          <a:p>
            <a:pPr>
              <a:lnSpc>
                <a:spcPct val="110000"/>
              </a:lnSpc>
            </a:pP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tes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: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isMatriksBujurSangkar</a:t>
            </a:r>
            <a:r>
              <a:rPr lang="en-US" dirty="0"/>
              <a:t>: </a:t>
            </a:r>
            <a:r>
              <a:rPr lang="en-US" dirty="0" err="1"/>
              <a:t>mengembalikan</a:t>
            </a:r>
            <a:r>
              <a:rPr lang="en-US" dirty="0"/>
              <a:t> true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matrik</a:t>
            </a:r>
            <a:r>
              <a:rPr lang="en-US" dirty="0"/>
              <a:t> </a:t>
            </a:r>
            <a:r>
              <a:rPr lang="en-US" dirty="0" err="1"/>
              <a:t>bujur</a:t>
            </a:r>
            <a:r>
              <a:rPr lang="en-US" dirty="0"/>
              <a:t> </a:t>
            </a:r>
            <a:r>
              <a:rPr lang="en-US" dirty="0" err="1"/>
              <a:t>sangkar</a:t>
            </a:r>
            <a:r>
              <a:rPr lang="en-US" dirty="0"/>
              <a:t> (</a:t>
            </a:r>
            <a:r>
              <a:rPr lang="en-US" dirty="0" err="1"/>
              <a:t>jumlah</a:t>
            </a:r>
            <a:r>
              <a:rPr lang="en-US" dirty="0"/>
              <a:t> baris =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).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isMatriksSimetri</a:t>
            </a:r>
            <a:r>
              <a:rPr lang="en-US" dirty="0"/>
              <a:t>: </a:t>
            </a:r>
            <a:r>
              <a:rPr lang="en-US" dirty="0" err="1"/>
              <a:t>mengembalikan</a:t>
            </a:r>
            <a:r>
              <a:rPr lang="en-US" dirty="0"/>
              <a:t> true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simetris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isMatriksIdentitas</a:t>
            </a:r>
            <a:r>
              <a:rPr lang="en-US" dirty="0"/>
              <a:t>: </a:t>
            </a:r>
            <a:r>
              <a:rPr lang="en-US" dirty="0" err="1"/>
              <a:t>mengembalikan</a:t>
            </a:r>
            <a:r>
              <a:rPr lang="en-US" dirty="0"/>
              <a:t> true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identitas</a:t>
            </a:r>
            <a:r>
              <a:rPr lang="en-US" dirty="0"/>
              <a:t> (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diagonalnya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1, </a:t>
            </a:r>
            <a:r>
              <a:rPr lang="en-US" dirty="0" err="1"/>
              <a:t>selainnya</a:t>
            </a:r>
            <a:r>
              <a:rPr lang="en-US" dirty="0"/>
              <a:t> 0)</a:t>
            </a:r>
          </a:p>
        </p:txBody>
      </p:sp>
    </p:spTree>
    <p:extLst>
      <p:ext uri="{BB962C8B-B14F-4D97-AF65-F5344CB8AC3E}">
        <p14:creationId xmlns:p14="http://schemas.microsoft.com/office/powerpoint/2010/main" val="3698085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A1848-9A8E-562C-256D-966B3C178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441007"/>
            <a:ext cx="10515600" cy="839154"/>
          </a:xfrm>
        </p:spPr>
        <p:txBody>
          <a:bodyPr/>
          <a:lstStyle/>
          <a:p>
            <a:r>
              <a:rPr lang="en-US" dirty="0" err="1"/>
              <a:t>Primitif</a:t>
            </a:r>
            <a:r>
              <a:rPr lang="en-US" dirty="0"/>
              <a:t> </a:t>
            </a:r>
            <a:r>
              <a:rPr lang="en-US" dirty="0" err="1"/>
              <a:t>Matriks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9CC77-EEA3-E05C-5955-50F66727C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383030"/>
            <a:ext cx="11404600" cy="529209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Operator Search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searchX</a:t>
            </a:r>
            <a:r>
              <a:rPr lang="en-US" dirty="0"/>
              <a:t>: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X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pada </a:t>
            </a:r>
            <a:r>
              <a:rPr lang="en-US" dirty="0" err="1"/>
              <a:t>matriks</a:t>
            </a:r>
            <a:r>
              <a:rPr lang="en-US" dirty="0"/>
              <a:t> dan </a:t>
            </a:r>
            <a:r>
              <a:rPr lang="en-US" dirty="0" err="1"/>
              <a:t>mengambalikan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baris dan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kali X </a:t>
            </a:r>
            <a:r>
              <a:rPr lang="en-US" dirty="0" err="1"/>
              <a:t>ditemukan</a:t>
            </a:r>
            <a:r>
              <a:rPr lang="en-US" dirty="0"/>
              <a:t>.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IsXElmt</a:t>
            </a:r>
            <a:r>
              <a:rPr lang="en-US" dirty="0"/>
              <a:t>: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X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pada </a:t>
            </a:r>
            <a:r>
              <a:rPr lang="en-US" dirty="0" err="1"/>
              <a:t>matriks</a:t>
            </a:r>
            <a:r>
              <a:rPr lang="en-US" dirty="0"/>
              <a:t> dan </a:t>
            </a:r>
            <a:r>
              <a:rPr lang="en-US" dirty="0" err="1"/>
              <a:t>mengembalikan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Boolean.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countX</a:t>
            </a:r>
            <a:r>
              <a:rPr lang="en-US" dirty="0"/>
              <a:t>: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banyaknya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X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matriks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Operator statistic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getSumMatriks</a:t>
            </a:r>
            <a:r>
              <a:rPr lang="en-US" dirty="0"/>
              <a:t>: </a:t>
            </a:r>
            <a:r>
              <a:rPr lang="en-US" dirty="0" err="1"/>
              <a:t>mengembalikan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matriks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getAverageMatriks</a:t>
            </a:r>
            <a:r>
              <a:rPr lang="en-US" dirty="0"/>
              <a:t>: </a:t>
            </a:r>
            <a:r>
              <a:rPr lang="en-US" dirty="0" err="1"/>
              <a:t>mengembalikan</a:t>
            </a:r>
            <a:r>
              <a:rPr lang="en-US" dirty="0"/>
              <a:t> rata-rata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matriks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getModusMatriks</a:t>
            </a:r>
            <a:r>
              <a:rPr lang="en-US" dirty="0"/>
              <a:t>: </a:t>
            </a:r>
            <a:r>
              <a:rPr lang="en-US" dirty="0" err="1"/>
              <a:t>mengembalikan</a:t>
            </a:r>
            <a:r>
              <a:rPr lang="en-US" dirty="0"/>
              <a:t> modus (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kemunculan</a:t>
            </a:r>
            <a:r>
              <a:rPr lang="en-US" dirty="0"/>
              <a:t> </a:t>
            </a:r>
            <a:r>
              <a:rPr lang="en-US" dirty="0" err="1"/>
              <a:t>terbanyak</a:t>
            </a:r>
            <a:r>
              <a:rPr lang="en-US" dirty="0"/>
              <a:t>)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getMinMatriks</a:t>
            </a:r>
            <a:r>
              <a:rPr lang="en-US" dirty="0"/>
              <a:t>: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minimum pada </a:t>
            </a:r>
            <a:r>
              <a:rPr lang="en-US" dirty="0" err="1"/>
              <a:t>matriks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getMaxMatriks</a:t>
            </a:r>
            <a:r>
              <a:rPr lang="en-US" dirty="0"/>
              <a:t>: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 pada </a:t>
            </a:r>
            <a:r>
              <a:rPr lang="en-US" dirty="0" err="1"/>
              <a:t>matriks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654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A1848-9A8E-562C-256D-966B3C178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262890"/>
            <a:ext cx="10515600" cy="1325563"/>
          </a:xfrm>
        </p:spPr>
        <p:txBody>
          <a:bodyPr/>
          <a:lstStyle/>
          <a:p>
            <a:r>
              <a:rPr lang="en-US" dirty="0" err="1"/>
              <a:t>Primitif</a:t>
            </a:r>
            <a:r>
              <a:rPr lang="en-US" dirty="0"/>
              <a:t> </a:t>
            </a:r>
            <a:r>
              <a:rPr lang="en-US" dirty="0" err="1"/>
              <a:t>Matriks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9CC77-EEA3-E05C-5955-50F66727C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543050"/>
            <a:ext cx="11404600" cy="505206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Operator </a:t>
            </a:r>
            <a:r>
              <a:rPr lang="en-US" dirty="0" err="1"/>
              <a:t>relasional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isEqualMatriks</a:t>
            </a:r>
            <a:r>
              <a:rPr lang="en-US" dirty="0"/>
              <a:t>: </a:t>
            </a:r>
            <a:r>
              <a:rPr lang="en-US" dirty="0" err="1"/>
              <a:t>mengecek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M1 = M2 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isEqualSize</a:t>
            </a:r>
            <a:r>
              <a:rPr lang="en-US" dirty="0"/>
              <a:t>: </a:t>
            </a:r>
            <a:r>
              <a:rPr lang="en-US" dirty="0" err="1"/>
              <a:t>mengecek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M1 =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M2</a:t>
            </a:r>
          </a:p>
          <a:p>
            <a:pPr>
              <a:lnSpc>
                <a:spcPct val="110000"/>
              </a:lnSpc>
            </a:pPr>
            <a:r>
              <a:rPr lang="en-US" dirty="0"/>
              <a:t>Operator </a:t>
            </a:r>
            <a:r>
              <a:rPr lang="en-US" dirty="0" err="1"/>
              <a:t>lainnya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getDeterminan</a:t>
            </a:r>
            <a:r>
              <a:rPr lang="en-US" dirty="0"/>
              <a:t>: </a:t>
            </a:r>
            <a:r>
              <a:rPr lang="en-US" dirty="0" err="1"/>
              <a:t>mengembalikan</a:t>
            </a:r>
            <a:r>
              <a:rPr lang="en-US" dirty="0"/>
              <a:t> </a:t>
            </a:r>
            <a:r>
              <a:rPr lang="en-US" dirty="0" err="1"/>
              <a:t>determinan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matriks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/>
              <a:t>transpose: </a:t>
            </a:r>
            <a:r>
              <a:rPr lang="en-US" dirty="0" err="1"/>
              <a:t>melakukan</a:t>
            </a:r>
            <a:r>
              <a:rPr lang="en-US" dirty="0"/>
              <a:t> transpose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matriks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getTranspose</a:t>
            </a:r>
            <a:r>
              <a:rPr lang="en-US" dirty="0"/>
              <a:t>: </a:t>
            </a:r>
            <a:r>
              <a:rPr lang="en-US" dirty="0" err="1"/>
              <a:t>mengembalikan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transpose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matriks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/>
              <a:t>invers: </a:t>
            </a:r>
            <a:r>
              <a:rPr lang="en-US" dirty="0" err="1"/>
              <a:t>melakukan</a:t>
            </a:r>
            <a:r>
              <a:rPr lang="en-US" dirty="0"/>
              <a:t> invers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getInvers</a:t>
            </a:r>
            <a:r>
              <a:rPr lang="en-US" dirty="0"/>
              <a:t>: </a:t>
            </a:r>
            <a:r>
              <a:rPr lang="en-US" dirty="0" err="1"/>
              <a:t>mengembalikan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invers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matriks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Operator Sort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sortMatriksAsc</a:t>
            </a:r>
            <a:r>
              <a:rPr lang="en-US" dirty="0"/>
              <a:t>: </a:t>
            </a:r>
            <a:r>
              <a:rPr lang="en-US" dirty="0" err="1"/>
              <a:t>Mengurutkan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elemennya</a:t>
            </a:r>
            <a:r>
              <a:rPr lang="en-US" dirty="0"/>
              <a:t> </a:t>
            </a:r>
            <a:r>
              <a:rPr lang="en-US" dirty="0" err="1"/>
              <a:t>terurut</a:t>
            </a:r>
            <a:r>
              <a:rPr lang="en-US" dirty="0"/>
              <a:t> </a:t>
            </a:r>
            <a:r>
              <a:rPr lang="en-US" dirty="0" err="1"/>
              <a:t>menaik</a:t>
            </a:r>
            <a:r>
              <a:rPr lang="en-US" dirty="0"/>
              <a:t>/</a:t>
            </a:r>
            <a:r>
              <a:rPr lang="en-US" dirty="0" err="1"/>
              <a:t>membesar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sortMatriksDesc</a:t>
            </a:r>
            <a:r>
              <a:rPr lang="en-US" dirty="0"/>
              <a:t>: </a:t>
            </a:r>
            <a:r>
              <a:rPr lang="en-US" dirty="0" err="1"/>
              <a:t>Mengurutkan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elemennya</a:t>
            </a:r>
            <a:r>
              <a:rPr lang="en-US" dirty="0"/>
              <a:t> </a:t>
            </a:r>
            <a:r>
              <a:rPr lang="en-US" dirty="0" err="1"/>
              <a:t>terurut</a:t>
            </a:r>
            <a:r>
              <a:rPr lang="en-US" dirty="0"/>
              <a:t> </a:t>
            </a:r>
            <a:r>
              <a:rPr lang="en-US" dirty="0" err="1"/>
              <a:t>mengecil</a:t>
            </a:r>
            <a:r>
              <a:rPr lang="en-US" dirty="0"/>
              <a:t>/ </a:t>
            </a:r>
            <a:r>
              <a:rPr lang="en-US" dirty="0" err="1"/>
              <a:t>menurun</a:t>
            </a: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875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237E5-DFAB-239A-5607-1061F1A32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42"/>
            <a:ext cx="10515600" cy="6614809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&lt; cell: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[1..100]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[1..100]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nbaris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nkolom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procedure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M: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{I.S.: - ; F.S.: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M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terdefinisi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{Proses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mengisi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cell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-999,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nbaris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0,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nkolom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0}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{-- SELEKTOR --}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getNBaris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(M: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mengembalikan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jumlah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baris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terdefinisi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getNKolom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(M: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mengembalikan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jumlah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kolom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terdefinisi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137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237E5-DFAB-239A-5607-1061F1A32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42"/>
            <a:ext cx="10515600" cy="6614809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{-- PREDIKAT --}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(M: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ID" sz="24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en-ID" sz="24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mengembalikan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nilai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true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jika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M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kosong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(M: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ID" sz="24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en-ID" sz="24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mengembalikan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nilai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true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jika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M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penuh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{-- SUBRUTIN LAIN --}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procedure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M: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{I.S.: M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terdefinisi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{F.S.: -}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{proses: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mencetak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info cell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layar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termasuk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cell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kosong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procedure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M: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{I.S.: M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terdefinisi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{F.S.: -}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{proses: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mencetak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info cell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tidak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kosong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layar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4343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237E5-DFAB-239A-5607-1061F1A32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42"/>
            <a:ext cx="10854690" cy="6614809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procedure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isiMatriksRandom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input/output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M: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x: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y: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{I.S.: M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terdefinisi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{F.S.: M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terisi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bilangan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random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sejumlah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x baris dan y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kolom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nbaris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=x,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nkolom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=y}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{proses: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mengisi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bilangan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integer random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jumlah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baris x dan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kolom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procedure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isiMatriksIdentitas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input/output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M: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n: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{I.S.: M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terdefinisi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{F.S.: M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terisi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identitas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berukuran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n x n,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nbaris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nkolom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=n}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{proses: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mengisi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identitas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berukuran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n x n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procedure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populateMatriks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input/output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M: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x: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y: </a:t>
            </a:r>
            <a:r>
              <a:rPr lang="en-ID" sz="2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{I.S.: M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terdefinisi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{F.S.: M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terisi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inputan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dari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keybord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sejumlah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x baris dan y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kolom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nbaris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=x, </a:t>
            </a:r>
            <a:r>
              <a:rPr lang="en-ID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nkolom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=y}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{proses: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mengisi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meminta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keyboard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jumlah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baris x dan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kolom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  <a:r>
              <a:rPr lang="en-ID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32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237E5-DFAB-239A-5607-1061F1A32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1" y="411480"/>
            <a:ext cx="11386712" cy="6358971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(M1,M2: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endParaRPr lang="en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mengembalikan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hasil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penjumlahan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M1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M2}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(M1,M2: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endParaRPr lang="en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mengembalikan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hasil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pengurangan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antara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M1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M2}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kaliMatriks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(M1,M2: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endParaRPr lang="en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mengembalikan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hasil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perkalian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antara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M1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M2}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kaliSkalarMatriks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(M: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x: integer) -&gt;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endParaRPr lang="en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mengembalikan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perkalian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antara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nilai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skalar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x}</a:t>
            </a:r>
          </a:p>
        </p:txBody>
      </p:sp>
    </p:spTree>
    <p:extLst>
      <p:ext uri="{BB962C8B-B14F-4D97-AF65-F5344CB8AC3E}">
        <p14:creationId xmlns:p14="http://schemas.microsoft.com/office/powerpoint/2010/main" val="2297764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237E5-DFAB-239A-5607-1061F1A32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5642"/>
            <a:ext cx="11165733" cy="6614809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getSumMatriks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(M: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mengembalikan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jumlah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nilai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getAverageMatriks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(M: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real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mengembalikan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rata-rata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nilai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getMinMatriks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(M: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mengembalikan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nilai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terkecil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getMaxMatriks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(M: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mengembalikan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nilai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terbesar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countX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(M: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X: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mengembalikan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banyaknya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bernilai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dalam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M}</a:t>
            </a:r>
          </a:p>
        </p:txBody>
      </p:sp>
    </p:spTree>
    <p:extLst>
      <p:ext uri="{BB962C8B-B14F-4D97-AF65-F5344CB8AC3E}">
        <p14:creationId xmlns:p14="http://schemas.microsoft.com/office/powerpoint/2010/main" val="2128608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237E5-DFAB-239A-5607-1061F1A32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42"/>
            <a:ext cx="11304270" cy="6614809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procedure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searchX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M:Matriks,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X: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row: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col: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{I.S.: M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terdefinisi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X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terdefinisi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{F.S.: row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baris dan col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kolom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ketemu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X di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M.cell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-999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jika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tidak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ketemu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{Proses: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mencari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bernilai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dalam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M.cell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procedure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transposeMatriks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input/output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M:Matriks)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{I.S.: M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terdefinisi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{F.S.: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sudah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ditukar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susunan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baris dan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kolomnya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(Transpose)}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{proses: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mengubah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susunan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cell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M.cell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menjadi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M.cell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j,i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misal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M=[1,2]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menjadi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[1,4]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[4,5]         [2,5]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D" sz="2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getTransposeMatriks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M:Matriks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menghasilkan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sebuah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merupakan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hasil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transpose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886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B5278-0FC2-B256-5C20-D0018B286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belajar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A7616-561F-D364-2044-9D48FCBA4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Inggriani</a:t>
            </a:r>
            <a:r>
              <a:rPr lang="en-ID" dirty="0"/>
              <a:t> </a:t>
            </a:r>
            <a:r>
              <a:rPr lang="en-ID" dirty="0" err="1"/>
              <a:t>Liem</a:t>
            </a:r>
            <a:r>
              <a:rPr lang="en-ID" dirty="0"/>
              <a:t>. Diktat </a:t>
            </a:r>
            <a:r>
              <a:rPr lang="en-ID" dirty="0" err="1"/>
              <a:t>Struktur</a:t>
            </a:r>
            <a:r>
              <a:rPr lang="en-ID" dirty="0"/>
              <a:t> Data. 2008</a:t>
            </a:r>
          </a:p>
          <a:p>
            <a:r>
              <a:rPr lang="en-ID" dirty="0" err="1"/>
              <a:t>Niclaus</a:t>
            </a:r>
            <a:r>
              <a:rPr lang="en-ID" dirty="0"/>
              <a:t> Wirth. Algorithms and Data Structures. 2004</a:t>
            </a:r>
          </a:p>
          <a:p>
            <a:r>
              <a:rPr lang="en-ID" dirty="0"/>
              <a:t>Standish, Thomas A. Data Structures, Algorithms, &amp; Software Principles in C. Addison Wesley Publishing Company 1995</a:t>
            </a:r>
          </a:p>
          <a:p>
            <a:r>
              <a:rPr lang="en-ID" dirty="0"/>
              <a:t>AHO, Alfred V., John E. Hopcroft, Jeffrey D. Ullman. Data Structures and Algorithm. Addison </a:t>
            </a:r>
            <a:r>
              <a:rPr lang="en-ID" dirty="0" err="1"/>
              <a:t>Weshley</a:t>
            </a:r>
            <a:r>
              <a:rPr lang="en-ID" dirty="0"/>
              <a:t> Publishing Compani.1987</a:t>
            </a: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267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507DAB4-AA2B-4421-BFB3-180B95EF4DB0}" vid="{649EB905-1CEB-4DD0-8DD0-7493F3383F96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if undip</Template>
  <TotalTime>2421</TotalTime>
  <Words>1901</Words>
  <Application>Microsoft Office PowerPoint</Application>
  <PresentationFormat>Widescreen</PresentationFormat>
  <Paragraphs>365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Wingdings</vt:lpstr>
      <vt:lpstr>Office Theme</vt:lpstr>
      <vt:lpstr>1_Office Theme</vt:lpstr>
      <vt:lpstr>PAIK6301 - Struktur Data  ADT - Matriks</vt:lpstr>
      <vt:lpstr>Jenis ADT</vt:lpstr>
      <vt:lpstr>Review</vt:lpstr>
      <vt:lpstr>Matriks</vt:lpstr>
      <vt:lpstr>Matriks 2 dimensi</vt:lpstr>
      <vt:lpstr>Matriks 2 dimensi</vt:lpstr>
      <vt:lpstr>Contoh Matriks 2 dimensi</vt:lpstr>
      <vt:lpstr>Contoh Matriks 2 dimensi</vt:lpstr>
      <vt:lpstr>Contoh Matriks 2 dimensi</vt:lpstr>
      <vt:lpstr>Matrix in Computer Science</vt:lpstr>
      <vt:lpstr>Matrix in Computer Science</vt:lpstr>
      <vt:lpstr>Tipe Matriks </vt:lpstr>
      <vt:lpstr>ADT Matriks</vt:lpstr>
      <vt:lpstr>Modul Matriks</vt:lpstr>
      <vt:lpstr>Primitif Matriks</vt:lpstr>
      <vt:lpstr>Primitif Matriks</vt:lpstr>
      <vt:lpstr>Primitif Matriks</vt:lpstr>
      <vt:lpstr>Primitif Matriks</vt:lpstr>
      <vt:lpstr>Primitif Matriks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Sumber belajar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PAIK6301 - Struktur Data  Abstract Data Type</dc:title>
  <dc:creator>Sandy Kurniawan</dc:creator>
  <cp:lastModifiedBy>Khadijah Alaydrus</cp:lastModifiedBy>
  <cp:revision>75</cp:revision>
  <dcterms:created xsi:type="dcterms:W3CDTF">2023-08-20T15:43:58Z</dcterms:created>
  <dcterms:modified xsi:type="dcterms:W3CDTF">2025-09-07T10:06:51Z</dcterms:modified>
</cp:coreProperties>
</file>