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67" r:id="rId3"/>
    <p:sldId id="297" r:id="rId4"/>
    <p:sldId id="290" r:id="rId5"/>
    <p:sldId id="291" r:id="rId6"/>
    <p:sldId id="293" r:id="rId7"/>
    <p:sldId id="292" r:id="rId8"/>
    <p:sldId id="279" r:id="rId9"/>
    <p:sldId id="280" r:id="rId10"/>
    <p:sldId id="281" r:id="rId11"/>
    <p:sldId id="283" r:id="rId12"/>
    <p:sldId id="282" r:id="rId13"/>
    <p:sldId id="300" r:id="rId14"/>
    <p:sldId id="298" r:id="rId15"/>
    <p:sldId id="299" r:id="rId16"/>
    <p:sldId id="294" r:id="rId17"/>
    <p:sldId id="304" r:id="rId18"/>
    <p:sldId id="295" r:id="rId19"/>
    <p:sldId id="301" r:id="rId20"/>
    <p:sldId id="296" r:id="rId21"/>
    <p:sldId id="302" r:id="rId22"/>
    <p:sldId id="303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749" autoAdjust="0"/>
  </p:normalViewPr>
  <p:slideViewPr>
    <p:cSldViewPr snapToGrid="0">
      <p:cViewPr varScale="1">
        <p:scale>
          <a:sx n="52" d="100"/>
          <a:sy n="52" d="100"/>
        </p:scale>
        <p:origin x="11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F5684-DC87-4339-A141-E3C475CF30B4}" type="datetimeFigureOut">
              <a:rPr lang="en-ID" smtClean="0"/>
              <a:t>01/09/2025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0DF73-1BF2-49DA-905E-E7A9AFCBDF6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806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Nilai </a:t>
            </a:r>
            <a:r>
              <a:rPr lang="en-ID" dirty="0" err="1"/>
              <a:t>adalah</a:t>
            </a:r>
            <a:r>
              <a:rPr lang="en-ID" dirty="0"/>
              <a:t> data </a:t>
            </a:r>
            <a:r>
              <a:rPr lang="en-ID" dirty="0" err="1"/>
              <a:t>konkret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diwakili</a:t>
            </a:r>
            <a:r>
              <a:rPr lang="en-ID" dirty="0"/>
              <a:t> oleh </a:t>
            </a:r>
            <a:r>
              <a:rPr lang="en-ID" dirty="0" err="1"/>
              <a:t>angka</a:t>
            </a:r>
            <a:r>
              <a:rPr lang="en-ID" dirty="0"/>
              <a:t>, </a:t>
            </a:r>
            <a:r>
              <a:rPr lang="en-ID" dirty="0" err="1"/>
              <a:t>karakter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data, </a:t>
            </a:r>
            <a:r>
              <a:rPr lang="en-ID" dirty="0" err="1"/>
              <a:t>nilai-nilai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elemen-elemen</a:t>
            </a:r>
            <a:r>
              <a:rPr lang="en-ID" dirty="0"/>
              <a:t> individual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  <a:p>
            <a:r>
              <a:rPr lang="en-ID" dirty="0" err="1"/>
              <a:t>Tipe</a:t>
            </a:r>
            <a:r>
              <a:rPr lang="en-ID" dirty="0"/>
              <a:t> data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. </a:t>
            </a:r>
            <a:r>
              <a:rPr lang="en-ID" dirty="0" err="1"/>
              <a:t>Tipe</a:t>
            </a:r>
            <a:r>
              <a:rPr lang="en-ID" dirty="0"/>
              <a:t> data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diolah</a:t>
            </a:r>
            <a:r>
              <a:rPr lang="en-ID" dirty="0"/>
              <a:t> dan </a:t>
            </a:r>
            <a:r>
              <a:rPr lang="en-ID" dirty="0" err="1"/>
              <a:t>diperlakukan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data. </a:t>
            </a:r>
          </a:p>
          <a:p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nama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merujuk</a:t>
            </a:r>
            <a:r>
              <a:rPr lang="en-ID" dirty="0"/>
              <a:t> pada </a:t>
            </a:r>
            <a:r>
              <a:rPr lang="en-ID" dirty="0" err="1"/>
              <a:t>nilai-nilai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pada </a:t>
            </a:r>
            <a:r>
              <a:rPr lang="en-ID" dirty="0" err="1"/>
              <a:t>nilai</a:t>
            </a:r>
            <a:r>
              <a:rPr lang="en-ID" dirty="0"/>
              <a:t> dan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 </a:t>
            </a:r>
            <a:r>
              <a:rPr lang="en-ID" dirty="0" err="1"/>
              <a:t>Variabel</a:t>
            </a:r>
            <a:r>
              <a:rPr lang="en-ID" dirty="0"/>
              <a:t> juga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 yang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di </a:t>
            </a:r>
            <a:r>
              <a:rPr lang="en-ID" dirty="0" err="1"/>
              <a:t>dalamnya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data,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endParaRPr lang="en-ID" dirty="0"/>
          </a:p>
          <a:p>
            <a:r>
              <a:rPr lang="en-ID" dirty="0" err="1"/>
              <a:t>Elemen</a:t>
            </a:r>
            <a:r>
              <a:rPr lang="en-ID" dirty="0"/>
              <a:t> Data: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seperti</a:t>
            </a:r>
            <a:r>
              <a:rPr lang="en-ID" dirty="0"/>
              <a:t> array, list, </a:t>
            </a:r>
            <a:r>
              <a:rPr lang="en-ID" dirty="0" err="1"/>
              <a:t>atau</a:t>
            </a:r>
            <a:r>
              <a:rPr lang="en-ID" dirty="0"/>
              <a:t> set, </a:t>
            </a:r>
            <a:r>
              <a:rPr lang="en-ID" dirty="0" err="1"/>
              <a:t>nilai-nilai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elemen-elemen</a:t>
            </a:r>
            <a:r>
              <a:rPr lang="en-ID" dirty="0"/>
              <a:t> data.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dan </a:t>
            </a:r>
            <a:r>
              <a:rPr lang="en-ID" dirty="0" err="1"/>
              <a:t>tipe</a:t>
            </a:r>
            <a:r>
              <a:rPr lang="en-ID" dirty="0"/>
              <a:t> yang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r>
              <a:rPr lang="en-ID" dirty="0" err="1"/>
              <a:t>Tipe</a:t>
            </a:r>
            <a:r>
              <a:rPr lang="en-ID" dirty="0"/>
              <a:t> Data </a:t>
            </a:r>
            <a:r>
              <a:rPr lang="en-ID" dirty="0" err="1"/>
              <a:t>Struktur</a:t>
            </a:r>
            <a:r>
              <a:rPr lang="en-ID" dirty="0"/>
              <a:t>: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data yang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di </a:t>
            </a:r>
            <a:r>
              <a:rPr lang="en-ID" dirty="0" err="1"/>
              <a:t>dalamnya</a:t>
            </a:r>
            <a:r>
              <a:rPr lang="en-ID" dirty="0"/>
              <a:t>. </a:t>
            </a:r>
            <a:r>
              <a:rPr lang="en-ID" dirty="0" err="1"/>
              <a:t>Misalnya</a:t>
            </a:r>
            <a:r>
              <a:rPr lang="en-ID" dirty="0"/>
              <a:t>, array integer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nilai-nilai</a:t>
            </a:r>
            <a:r>
              <a:rPr lang="en-ID" dirty="0"/>
              <a:t> integer.</a:t>
            </a:r>
          </a:p>
          <a:p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Data: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,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merujuk</a:t>
            </a:r>
            <a:r>
              <a:rPr lang="en-ID" dirty="0"/>
              <a:t> pada </a:t>
            </a:r>
            <a:r>
              <a:rPr lang="en-ID" dirty="0" err="1"/>
              <a:t>elemen-elemen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data.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nilai-nilai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 dan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manipulasi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.</a:t>
            </a:r>
          </a:p>
          <a:p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data "array integer,"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yang </a:t>
            </a:r>
            <a:r>
              <a:rPr lang="en-ID" dirty="0" err="1"/>
              <a:t>merujuk</a:t>
            </a:r>
            <a:r>
              <a:rPr lang="en-ID" dirty="0"/>
              <a:t> pada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integer </a:t>
            </a:r>
            <a:r>
              <a:rPr lang="en-ID" dirty="0" err="1"/>
              <a:t>dalam</a:t>
            </a:r>
            <a:r>
              <a:rPr lang="en-ID" dirty="0"/>
              <a:t> array </a:t>
            </a:r>
            <a:r>
              <a:rPr lang="en-ID" dirty="0" err="1"/>
              <a:t>tersebut</a:t>
            </a:r>
            <a:r>
              <a:rPr lang="en-ID" dirty="0"/>
              <a:t>.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(</a:t>
            </a:r>
            <a:r>
              <a:rPr lang="en-ID" dirty="0" err="1"/>
              <a:t>misalnya</a:t>
            </a:r>
            <a:r>
              <a:rPr lang="en-ID" dirty="0"/>
              <a:t>, 5, 10, 20) dan </a:t>
            </a:r>
            <a:r>
              <a:rPr lang="en-ID" dirty="0" err="1"/>
              <a:t>tipe</a:t>
            </a:r>
            <a:r>
              <a:rPr lang="en-ID" dirty="0"/>
              <a:t> data integer.</a:t>
            </a:r>
          </a:p>
          <a:p>
            <a:endParaRPr lang="en-ID" dirty="0"/>
          </a:p>
          <a:p>
            <a:r>
              <a:rPr lang="en-ID" dirty="0" err="1"/>
              <a:t>Deskriptif</a:t>
            </a:r>
            <a:r>
              <a:rPr lang="en-ID" dirty="0"/>
              <a:t> dan </a:t>
            </a:r>
            <a:r>
              <a:rPr lang="en-ID" dirty="0" err="1"/>
              <a:t>Bermakna</a:t>
            </a:r>
            <a:r>
              <a:rPr lang="en-ID" dirty="0"/>
              <a:t>: </a:t>
            </a:r>
            <a:r>
              <a:rPr lang="en-ID" dirty="0" err="1"/>
              <a:t>usia</a:t>
            </a:r>
            <a:r>
              <a:rPr lang="en-ID" dirty="0"/>
              <a:t> &gt; x</a:t>
            </a:r>
          </a:p>
          <a:p>
            <a:r>
              <a:rPr lang="en-ID" b="1" i="0" dirty="0" err="1">
                <a:effectLst/>
                <a:latin typeface="Söhne"/>
              </a:rPr>
              <a:t>Singkat</a:t>
            </a:r>
            <a:r>
              <a:rPr lang="en-ID" b="1" i="0" dirty="0">
                <a:effectLst/>
                <a:latin typeface="Söhne"/>
              </a:rPr>
              <a:t> dan </a:t>
            </a:r>
            <a:r>
              <a:rPr lang="en-ID" b="1" i="0" dirty="0" err="1">
                <a:effectLst/>
                <a:latin typeface="Söhne"/>
              </a:rPr>
              <a:t>Padat</a:t>
            </a:r>
            <a:r>
              <a:rPr lang="en-ID" b="1" i="0" dirty="0">
                <a:effectLst/>
                <a:latin typeface="Söhne"/>
              </a:rPr>
              <a:t>: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</a:p>
          <a:p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camelCase</a:t>
            </a:r>
          </a:p>
          <a:p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Hindari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default variable</a:t>
            </a:r>
          </a:p>
          <a:p>
            <a:pPr algn="l"/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Contoh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penamaan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yang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baik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dalam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struktur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data: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Variabel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jumlahMahasiswa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nilaiRataRata</a:t>
            </a:r>
            <a:endParaRPr lang="en-ID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Fungsi: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hitungTotal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validasiInput</a:t>
            </a:r>
            <a:endParaRPr lang="en-ID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Prosedur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simpanData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tampilkanPesan</a:t>
            </a:r>
            <a:endParaRPr lang="en-ID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D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dan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Komponen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atau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benda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dalam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struktur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data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terdiri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dari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komponen-komponen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yang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menyimpan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nilai-nilai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yang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berbeda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.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Misalnya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"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mahasiswa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"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memiliki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komponen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seperti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nama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usia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dan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nilai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dan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Operasi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Operasi-operasi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dalam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struktur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data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digunakan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untuk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memanipulasi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atau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benda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.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Misalnya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operasi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pencarian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dapat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digunakan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untuk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mencari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dengan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nilai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tertentu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Komponen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dan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Operasi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Operasi-operasi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juga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dapat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fokus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pada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manipulasi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komponen-komponen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individu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dalam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.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Misalnya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,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operasi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pengubahan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nilai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komponen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tertentu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dalam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en-ID" b="0" i="0" dirty="0" err="1">
                <a:solidFill>
                  <a:srgbClr val="D1D5DB"/>
                </a:solidFill>
                <a:effectLst/>
                <a:latin typeface="Söhne"/>
              </a:rPr>
              <a:t>objek</a:t>
            </a:r>
            <a:r>
              <a:rPr lang="en-ID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5A925-954B-4DEB-9260-45095FCFF250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282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0DF73-1BF2-49DA-905E-E7A9AFCBDF60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8755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D6B338-71C7-BCA0-45DB-2478AE14A30A}"/>
              </a:ext>
            </a:extLst>
          </p:cNvPr>
          <p:cNvSpPr/>
          <p:nvPr/>
        </p:nvSpPr>
        <p:spPr>
          <a:xfrm>
            <a:off x="4115579" y="995680"/>
            <a:ext cx="7899401" cy="5059680"/>
          </a:xfrm>
          <a:prstGeom prst="rect">
            <a:avLst/>
          </a:prstGeom>
          <a:solidFill>
            <a:schemeClr val="tx1">
              <a:lumMod val="95000"/>
              <a:lumOff val="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95595-F432-BFE8-C03C-BEACE4C25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1319" y="1122362"/>
            <a:ext cx="7707923" cy="298741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C5010-D0AA-68E2-8063-508B86FE7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2592" y="4250452"/>
            <a:ext cx="7616650" cy="100734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10C35-09EA-E536-5C60-D001E8A9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B299-341E-E2A1-B695-EC6931C2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527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34CB-D024-8902-A222-9EF4B07C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44100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8CBE-F6F2-3DB8-183C-4193C2933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4370"/>
            <a:ext cx="11404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63CC5-9712-5985-3784-F4A2B06D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D2BE-5201-7A3C-6646-C96FD0CB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507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B25A-AECC-3502-C83B-98CD3527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115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A7FDA-B312-412E-739E-B54CC0273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3922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9EEA-BCD3-6838-213C-6BFCD932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0B4D8-1EEB-3FAF-3369-E87306347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992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0C34-42CD-5AC0-9731-5418D12D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3306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121D7-51C0-8161-8564-34EB68D80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0" y="194040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241E9-2AAE-94F3-08BC-B4E179F7A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5800" y="194040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AE1B8-2BA1-6C60-5E7B-67C834AF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A9F3E-0FAC-26FF-E516-A4FAB946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637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9704-CA00-F343-5C86-6F2B9AB8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68" y="45656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7C74F-8CEB-5427-19D0-FF84E515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68" y="177260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EC7C7-269A-7111-0478-095E4A4D4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868" y="259651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EAE56-91D6-7591-6DD1-7E113CC43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6280" y="17726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98D11-6C9F-0557-58A5-8AC4A72FF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6280" y="259651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16CB6-D0E4-7045-44D5-826F647FF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D13C3-D4C5-FAE4-DC57-B13C071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910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D3F9-304D-D146-726F-FC2C0EB6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5116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47B75-0AC0-47F0-7F5F-3B1C0808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F8457-30CA-FD83-E7A3-55C86E9F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09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2709F-A7B0-22AB-A1D8-547BA559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01FF7-4D34-93DC-F033-4BC1DFE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7366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3796-D09F-9343-0B56-A89E7880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46196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DAF63-8B79-72BF-DAD7-22377518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388" y="461962"/>
            <a:ext cx="6571932" cy="57559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1F785-FF54-810B-5540-C51695D8F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0988" y="2062161"/>
            <a:ext cx="3932237" cy="41557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E575-4962-D63E-F4A9-54523EBD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DD4C3-612F-872F-0FD8-882EE467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633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AA75-CA40-F264-F9D5-9FC8EC4A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D312E-0484-205F-077B-756B53F35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34548" y="457201"/>
            <a:ext cx="6470332" cy="5852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0D47F-20AA-82A9-5AFD-9AA1D761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1148" y="2057400"/>
            <a:ext cx="3932237" cy="42519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860F9-1014-76DC-7B64-06E889C4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E4E90-928D-FD19-9C95-01C23E4A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8083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561D-8DCD-E250-20A0-B7F90FF1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11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79EB8-0408-5BC2-844D-9C0210CC4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005012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E50F-08FA-B99B-0FD3-83AFC51E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BBABF-E789-EDEA-E923-6663B352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32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51B9B-3A36-2C81-FDE7-019624017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79460" y="34480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84668-D314-A565-9634-B98DC2555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2760" y="34480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0FEFC-0879-7417-9D00-9E1B23D2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D9A30-B237-A4A1-0138-4C97062D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408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27C7A-DE30-93AD-8D3D-FEB80CB2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66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62F9-6DA7-E659-388A-1AD4C3B9D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304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6AD3-00EF-C388-845C-83CA92163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249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1277C-AAA0-479F-B475-83922A08F398}" type="datetimeFigureOut">
              <a:rPr lang="en-ID" smtClean="0"/>
              <a:t>01/09/2025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0FD2A-D0DF-0386-B3B5-A358F3AB5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494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51DD-7E69-18E6-B18B-CA94E6990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196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8291E75-CF71-4F38-99B3-5B9144A0F8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525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2E04-9016-CB70-8D96-61F34C31E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sz="4800" dirty="0"/>
              <a:t>PAIK6301 - </a:t>
            </a:r>
            <a:r>
              <a:rPr lang="en-ID" sz="4800" dirty="0" err="1"/>
              <a:t>Struktur</a:t>
            </a:r>
            <a:r>
              <a:rPr lang="en-ID" sz="4800" dirty="0"/>
              <a:t> Data </a:t>
            </a:r>
            <a:br>
              <a:rPr lang="en-ID" sz="6000" dirty="0"/>
            </a:br>
            <a:r>
              <a:rPr lang="en-US" dirty="0"/>
              <a:t>ADT - </a:t>
            </a:r>
            <a:r>
              <a:rPr lang="en-US" dirty="0" err="1"/>
              <a:t>Tabel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69A47-DF98-5955-3B5B-F3FFD5B34E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Gasal 2025/2026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500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54647-DF69-842C-8FA7-725CE375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408F-25C4-9133-A575-8B37200B7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: </a:t>
            </a:r>
            <a:r>
              <a:rPr lang="en-ID" dirty="0" err="1"/>
              <a:t>selektor</a:t>
            </a:r>
            <a:r>
              <a:rPr lang="en-ID" dirty="0"/>
              <a:t>, </a:t>
            </a:r>
            <a:r>
              <a:rPr lang="en-ID" dirty="0" err="1"/>
              <a:t>objek</a:t>
            </a:r>
            <a:r>
              <a:rPr lang="en-ID" dirty="0"/>
              <a:t>, </a:t>
            </a:r>
            <a:r>
              <a:rPr lang="en-ID" dirty="0" err="1"/>
              <a:t>komponen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: mutator, </a:t>
            </a:r>
            <a:r>
              <a:rPr lang="en-ID" dirty="0" err="1"/>
              <a:t>komponen</a:t>
            </a:r>
            <a:r>
              <a:rPr lang="en-ID" dirty="0"/>
              <a:t>, </a:t>
            </a:r>
            <a:r>
              <a:rPr lang="en-ID" dirty="0" err="1"/>
              <a:t>prosedur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dan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operator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/</a:t>
            </a:r>
            <a:r>
              <a:rPr lang="en-ID" dirty="0" err="1"/>
              <a:t>prosedur</a:t>
            </a:r>
            <a:r>
              <a:rPr lang="en-ID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62CA1-E985-79A3-B139-DF93EE2C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0616-CD6D-43F4-BE21-C45F4E0BE26F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118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64C4-3502-F150-3DFF-84AD0CFC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Jenis</a:t>
            </a:r>
            <a:r>
              <a:rPr lang="en-ID" dirty="0"/>
              <a:t>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B7371-4312-CC28-7BD0-0383C57E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79944"/>
            <a:ext cx="11404600" cy="4615764"/>
          </a:xfrm>
        </p:spPr>
        <p:txBody>
          <a:bodyPr>
            <a:normAutofit/>
          </a:bodyPr>
          <a:lstStyle/>
          <a:p>
            <a:r>
              <a:rPr lang="en-ID" sz="2400" dirty="0"/>
              <a:t>Unit Tunggal</a:t>
            </a:r>
          </a:p>
          <a:p>
            <a:pPr lvl="1"/>
            <a:r>
              <a:rPr lang="en-ID" dirty="0"/>
              <a:t>Satu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penyusun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titik</a:t>
            </a:r>
            <a:r>
              <a:rPr lang="en-ID" dirty="0"/>
              <a:t>, jam, garis</a:t>
            </a:r>
          </a:p>
          <a:p>
            <a:pPr lvl="1"/>
            <a:endParaRPr lang="en-ID" dirty="0"/>
          </a:p>
          <a:p>
            <a:r>
              <a:rPr lang="en-ID" sz="2400" dirty="0"/>
              <a:t>Unit </a:t>
            </a:r>
            <a:r>
              <a:rPr lang="en-ID" sz="2400" dirty="0" err="1"/>
              <a:t>Koleksi</a:t>
            </a:r>
            <a:endParaRPr lang="en-ID" sz="2400" dirty="0"/>
          </a:p>
          <a:p>
            <a:pPr lvl="1"/>
            <a:r>
              <a:rPr lang="en-ID" dirty="0"/>
              <a:t>Satu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</a:t>
            </a:r>
            <a:r>
              <a:rPr lang="en-ID" dirty="0" err="1"/>
              <a:t>koleksi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tabel</a:t>
            </a:r>
            <a:r>
              <a:rPr lang="en-ID" dirty="0"/>
              <a:t>, </a:t>
            </a:r>
            <a:r>
              <a:rPr lang="en-ID" dirty="0" err="1"/>
              <a:t>matriks</a:t>
            </a:r>
            <a:endParaRPr lang="en-ID" dirty="0"/>
          </a:p>
          <a:p>
            <a:pPr lvl="1"/>
            <a:endParaRPr lang="en-ID" dirty="0"/>
          </a:p>
          <a:p>
            <a:r>
              <a:rPr lang="en-ID" sz="2400" dirty="0"/>
              <a:t>Unit </a:t>
            </a:r>
            <a:r>
              <a:rPr lang="en-ID" sz="2400" dirty="0" err="1"/>
              <a:t>Koleksi</a:t>
            </a:r>
            <a:r>
              <a:rPr lang="en-ID" sz="2400" dirty="0"/>
              <a:t> </a:t>
            </a:r>
            <a:r>
              <a:rPr lang="en-ID" sz="2400" dirty="0" err="1"/>
              <a:t>Berkait</a:t>
            </a:r>
            <a:endParaRPr lang="en-ID" sz="2400" dirty="0"/>
          </a:p>
          <a:p>
            <a:pPr lvl="1"/>
            <a:r>
              <a:rPr lang="en-ID" dirty="0"/>
              <a:t>Satu </a:t>
            </a:r>
            <a:r>
              <a:rPr lang="en-ID" dirty="0" err="1"/>
              <a:t>variabel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yang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Contoh</a:t>
            </a:r>
            <a:r>
              <a:rPr lang="en-ID" dirty="0"/>
              <a:t>: linked-list, tree</a:t>
            </a:r>
          </a:p>
        </p:txBody>
      </p:sp>
    </p:spTree>
    <p:extLst>
      <p:ext uri="{BB962C8B-B14F-4D97-AF65-F5344CB8AC3E}">
        <p14:creationId xmlns:p14="http://schemas.microsoft.com/office/powerpoint/2010/main" val="235502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F3BD-1BB7-E44B-A11A-BC81E213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Koleksi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1C4C-950D-151E-D801-A84C4B06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 err="1"/>
              <a:t>Koleksi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sekumpulan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objek</a:t>
            </a:r>
            <a:r>
              <a:rPr lang="en-US" sz="2400" dirty="0">
                <a:sym typeface="Wingdings" panose="05000000000000000000" pitchFamily="2" charset="2"/>
              </a:rPr>
              <a:t> (</a:t>
            </a:r>
            <a:r>
              <a:rPr lang="en-US" sz="2400" dirty="0" err="1">
                <a:sym typeface="Wingdings" panose="05000000000000000000" pitchFamily="2" charset="2"/>
              </a:rPr>
              <a:t>elemen</a:t>
            </a:r>
            <a:r>
              <a:rPr lang="en-US" sz="2400" dirty="0">
                <a:sym typeface="Wingdings" panose="05000000000000000000" pitchFamily="2" charset="2"/>
              </a:rPr>
              <a:t>) </a:t>
            </a:r>
            <a:r>
              <a:rPr lang="en-US" sz="2400" dirty="0" err="1">
                <a:sym typeface="Wingdings" panose="05000000000000000000" pitchFamily="2" charset="2"/>
              </a:rPr>
              <a:t>ber</a:t>
            </a:r>
            <a:r>
              <a:rPr lang="en-US" sz="2400" dirty="0">
                <a:sym typeface="Wingdings" panose="05000000000000000000" pitchFamily="2" charset="2"/>
              </a:rPr>
              <a:t>-type </a:t>
            </a:r>
            <a:r>
              <a:rPr lang="en-US" sz="2400" dirty="0" err="1">
                <a:sym typeface="Wingdings" panose="05000000000000000000" pitchFamily="2" charset="2"/>
              </a:rPr>
              <a:t>sama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ym typeface="Wingdings" panose="05000000000000000000" pitchFamily="2" charset="2"/>
              </a:rPr>
              <a:t>Type </a:t>
            </a:r>
            <a:r>
              <a:rPr lang="en-US" dirty="0" err="1">
                <a:sym typeface="Wingdings" panose="05000000000000000000" pitchFamily="2" charset="2"/>
              </a:rPr>
              <a:t>elemen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dalam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koleksi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objek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dapat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berupa</a:t>
            </a:r>
            <a:r>
              <a:rPr lang="en-US" dirty="0">
                <a:sym typeface="Wingdings" panose="05000000000000000000" pitchFamily="2" charset="2"/>
              </a:rPr>
              <a:t> type </a:t>
            </a:r>
            <a:r>
              <a:rPr lang="en-US" dirty="0" err="1">
                <a:sym typeface="Wingdings" panose="05000000000000000000" pitchFamily="2" charset="2"/>
              </a:rPr>
              <a:t>dasar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ataupun</a:t>
            </a:r>
            <a:r>
              <a:rPr lang="en-US" dirty="0">
                <a:sym typeface="Wingdings" panose="05000000000000000000" pitchFamily="2" charset="2"/>
              </a:rPr>
              <a:t> ADT yang </a:t>
            </a:r>
            <a:r>
              <a:rPr lang="en-US" dirty="0" err="1">
                <a:sym typeface="Wingdings" panose="05000000000000000000" pitchFamily="2" charset="2"/>
              </a:rPr>
              <a:t>sudah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didefinisikan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sebelumnya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Definisi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koleksi</a:t>
            </a:r>
            <a:r>
              <a:rPr lang="en-US" sz="2400" dirty="0">
                <a:sym typeface="Wingdings" panose="05000000000000000000" pitchFamily="2" charset="2"/>
              </a:rPr>
              <a:t> dan </a:t>
            </a:r>
            <a:r>
              <a:rPr lang="en-US" sz="2400" dirty="0" err="1">
                <a:sym typeface="Wingdings" panose="05000000000000000000" pitchFamily="2" charset="2"/>
              </a:rPr>
              <a:t>elemen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dapat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dilakukan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dengan</a:t>
            </a:r>
            <a:r>
              <a:rPr lang="en-US" sz="2400" dirty="0">
                <a:sym typeface="Wingdings" panose="05000000000000000000" pitchFamily="2" charset="2"/>
              </a:rPr>
              <a:t> 2 </a:t>
            </a:r>
            <a:r>
              <a:rPr lang="en-US" sz="2400" dirty="0" err="1">
                <a:sym typeface="Wingdings" panose="05000000000000000000" pitchFamily="2" charset="2"/>
              </a:rPr>
              <a:t>cara</a:t>
            </a:r>
            <a:r>
              <a:rPr lang="en-US" sz="2400" dirty="0">
                <a:sym typeface="Wingdings" panose="05000000000000000000" pitchFamily="2" charset="2"/>
              </a:rPr>
              <a:t>:</a:t>
            </a:r>
          </a:p>
          <a:p>
            <a:pPr lvl="1">
              <a:lnSpc>
                <a:spcPct val="110000"/>
              </a:lnSpc>
            </a:pPr>
            <a:r>
              <a:rPr lang="en-US" dirty="0" err="1">
                <a:sym typeface="Wingdings" panose="05000000000000000000" pitchFamily="2" charset="2"/>
              </a:rPr>
              <a:t>Definisi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iteratif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 err="1">
                <a:sym typeface="Wingdings" panose="05000000000000000000" pitchFamily="2" charset="2"/>
              </a:rPr>
              <a:t>mendefinisikan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setiap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elemen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 err="1">
                <a:sym typeface="Wingdings" panose="05000000000000000000" pitchFamily="2" charset="2"/>
              </a:rPr>
              <a:t>Definisi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rekursif</a:t>
            </a:r>
            <a:r>
              <a:rPr lang="en-US" dirty="0">
                <a:sym typeface="Wingdings" panose="05000000000000000000" pitchFamily="2" charset="2"/>
              </a:rPr>
              <a:t>: </a:t>
            </a:r>
            <a:r>
              <a:rPr lang="en-US" dirty="0" err="1">
                <a:sym typeface="Wingdings" panose="05000000000000000000" pitchFamily="2" charset="2"/>
              </a:rPr>
              <a:t>elemen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dalam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suatu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koleksi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objek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berupa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koleksi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objek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itu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sendiri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lvl="2">
              <a:lnSpc>
                <a:spcPct val="11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Contoh</a:t>
            </a:r>
            <a:r>
              <a:rPr lang="en-US" sz="2400" dirty="0">
                <a:sym typeface="Wingdings" panose="05000000000000000000" pitchFamily="2" charset="2"/>
              </a:rPr>
              <a:t>: tree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3754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F3BD-1BB7-E44B-A11A-BC81E213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457200"/>
            <a:ext cx="10515600" cy="932179"/>
          </a:xfrm>
        </p:spPr>
        <p:txBody>
          <a:bodyPr/>
          <a:lstStyle/>
          <a:p>
            <a:r>
              <a:rPr lang="en-US" dirty="0" err="1"/>
              <a:t>Koleksi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ADT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81C4C-950D-151E-D801-A84C4B06E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89379"/>
            <a:ext cx="11404600" cy="50114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err="1"/>
              <a:t>Definisi</a:t>
            </a:r>
            <a:r>
              <a:rPr lang="en-US" sz="2400" dirty="0"/>
              <a:t> type </a:t>
            </a:r>
            <a:r>
              <a:rPr lang="en-US" sz="2400" dirty="0" err="1"/>
              <a:t>koleksi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err="1"/>
              <a:t>Definisi</a:t>
            </a:r>
            <a:r>
              <a:rPr lang="en-US" sz="2400" dirty="0"/>
              <a:t> type </a:t>
            </a:r>
            <a:r>
              <a:rPr lang="en-US" sz="2400" dirty="0" err="1"/>
              <a:t>elemen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Cara </a:t>
            </a:r>
            <a:r>
              <a:rPr lang="en-US" sz="2400" dirty="0" err="1"/>
              <a:t>akses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D" sz="2400" dirty="0" err="1"/>
              <a:t>Primitif</a:t>
            </a:r>
            <a:r>
              <a:rPr lang="en-ID" sz="2400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D" dirty="0" err="1"/>
              <a:t>Primitif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koleksi</a:t>
            </a:r>
            <a:r>
              <a:rPr lang="en-ID" dirty="0"/>
              <a:t>: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ID" sz="2400" dirty="0" err="1"/>
              <a:t>Penciptaan</a:t>
            </a:r>
            <a:r>
              <a:rPr lang="en-ID" sz="2400" dirty="0"/>
              <a:t> </a:t>
            </a:r>
            <a:r>
              <a:rPr lang="en-ID" sz="2400" dirty="0" err="1"/>
              <a:t>koleksi</a:t>
            </a:r>
            <a:r>
              <a:rPr lang="en-ID" sz="2400" dirty="0"/>
              <a:t> </a:t>
            </a:r>
            <a:r>
              <a:rPr lang="en-ID" sz="2400" dirty="0" err="1"/>
              <a:t>kosong</a:t>
            </a:r>
            <a:endParaRPr lang="en-ID" sz="2400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ID" sz="2400" dirty="0" err="1"/>
              <a:t>Penghacuran</a:t>
            </a:r>
            <a:r>
              <a:rPr lang="en-ID" sz="2400" dirty="0"/>
              <a:t> </a:t>
            </a:r>
            <a:r>
              <a:rPr lang="en-ID" sz="2400" dirty="0" err="1"/>
              <a:t>seluruh</a:t>
            </a:r>
            <a:r>
              <a:rPr lang="en-ID" sz="2400" dirty="0"/>
              <a:t> </a:t>
            </a:r>
            <a:r>
              <a:rPr lang="en-ID" sz="2400" dirty="0" err="1"/>
              <a:t>koleksi</a:t>
            </a:r>
            <a:endParaRPr lang="en-ID" sz="2400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ID" sz="2400" dirty="0" err="1"/>
              <a:t>Penambahan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anggota</a:t>
            </a:r>
            <a:r>
              <a:rPr lang="en-ID" sz="2400" dirty="0"/>
              <a:t> </a:t>
            </a:r>
            <a:r>
              <a:rPr lang="en-ID" sz="2400" dirty="0" err="1"/>
              <a:t>koleksi</a:t>
            </a:r>
            <a:endParaRPr lang="en-ID" sz="2400" dirty="0"/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ID" sz="2400" dirty="0" err="1"/>
              <a:t>Penghapusan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elemen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koleksi</a:t>
            </a:r>
            <a:endParaRPr lang="en-ID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D" dirty="0" err="1"/>
              <a:t>Primitif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: </a:t>
            </a:r>
            <a:r>
              <a:rPr lang="en-ID" dirty="0" err="1"/>
              <a:t>selektor</a:t>
            </a:r>
            <a:r>
              <a:rPr lang="en-ID" dirty="0"/>
              <a:t> dan mutator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D" dirty="0" err="1"/>
              <a:t>Iterasi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memproses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(traversal)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D" dirty="0" err="1"/>
              <a:t>Pencarian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kriteria</a:t>
            </a:r>
            <a:r>
              <a:rPr lang="en-ID" dirty="0"/>
              <a:t> </a:t>
            </a:r>
            <a:r>
              <a:rPr lang="en-ID" dirty="0" err="1"/>
              <a:t>tertentu</a:t>
            </a:r>
            <a:endParaRPr lang="en-ID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ID" dirty="0" err="1"/>
              <a:t>Pengurutan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kriteria</a:t>
            </a:r>
            <a:r>
              <a:rPr lang="en-ID" dirty="0"/>
              <a:t> </a:t>
            </a:r>
            <a:r>
              <a:rPr lang="en-ID" dirty="0" err="1"/>
              <a:t>tertentu</a:t>
            </a:r>
            <a:endParaRPr lang="en-ID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ID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5658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A6937-FBF3-AE38-1706-A704A3E0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Tingkatan</a:t>
            </a:r>
            <a:r>
              <a:rPr lang="en-US" dirty="0"/>
              <a:t> </a:t>
            </a:r>
            <a:r>
              <a:rPr lang="en-US" dirty="0" err="1"/>
              <a:t>Definsi</a:t>
            </a:r>
            <a:r>
              <a:rPr lang="en-US" dirty="0"/>
              <a:t> </a:t>
            </a:r>
            <a:r>
              <a:rPr lang="en-US" dirty="0" err="1"/>
              <a:t>Koleksi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1A5D4-5C5F-F035-611F-DF1CE7F2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766569"/>
            <a:ext cx="11404600" cy="4737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koleksi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prosedural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3 </a:t>
            </a:r>
            <a:r>
              <a:rPr lang="en-US" dirty="0" err="1"/>
              <a:t>tingkatan</a:t>
            </a:r>
            <a:r>
              <a:rPr lang="en-US" dirty="0"/>
              <a:t>:</a:t>
            </a:r>
          </a:p>
          <a:p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fungsional</a:t>
            </a:r>
            <a:endParaRPr lang="en-US" dirty="0"/>
          </a:p>
          <a:p>
            <a:pPr lvl="1"/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type dan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type.</a:t>
            </a:r>
          </a:p>
          <a:p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lojik</a:t>
            </a:r>
            <a:r>
              <a:rPr lang="en-US" dirty="0"/>
              <a:t> (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Spesifikasi</a:t>
            </a:r>
            <a:r>
              <a:rPr lang="en-US" dirty="0"/>
              <a:t> type dan operator (</a:t>
            </a:r>
            <a:r>
              <a:rPr lang="en-US" dirty="0" err="1"/>
              <a:t>fungsi</a:t>
            </a:r>
            <a:r>
              <a:rPr lang="en-US" dirty="0"/>
              <a:t>/</a:t>
            </a:r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</a:t>
            </a:r>
            <a:r>
              <a:rPr lang="en-US" dirty="0" err="1"/>
              <a:t>parameternya</a:t>
            </a:r>
            <a:r>
              <a:rPr lang="en-US" dirty="0"/>
              <a:t>).</a:t>
            </a:r>
          </a:p>
          <a:p>
            <a:r>
              <a:rPr lang="en-US" dirty="0" err="1"/>
              <a:t>Representasi</a:t>
            </a:r>
            <a:r>
              <a:rPr lang="en-US" dirty="0"/>
              <a:t> (</a:t>
            </a:r>
            <a:r>
              <a:rPr lang="en-US" dirty="0" err="1"/>
              <a:t>implementasi</a:t>
            </a:r>
            <a:r>
              <a:rPr lang="en-US" dirty="0"/>
              <a:t>) </a:t>
            </a:r>
            <a:r>
              <a:rPr lang="en-US" dirty="0" err="1"/>
              <a:t>fisik</a:t>
            </a:r>
            <a:endParaRPr lang="en-US" dirty="0"/>
          </a:p>
          <a:p>
            <a:pPr lvl="1"/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implementasinya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 computer dan </a:t>
            </a:r>
            <a:r>
              <a:rPr lang="en-US" dirty="0" err="1"/>
              <a:t>ketersediaan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program.</a:t>
            </a:r>
          </a:p>
          <a:p>
            <a:pPr lvl="1"/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</a:t>
            </a:r>
            <a:r>
              <a:rPr lang="en-US" dirty="0" err="1"/>
              <a:t>kontigu</a:t>
            </a:r>
            <a:r>
              <a:rPr lang="en-US" dirty="0"/>
              <a:t>: </a:t>
            </a:r>
            <a:r>
              <a:rPr lang="en-US" dirty="0" err="1"/>
              <a:t>penyimpanan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di </a:t>
            </a:r>
            <a:r>
              <a:rPr lang="en-US" dirty="0" err="1"/>
              <a:t>memori</a:t>
            </a:r>
            <a:endParaRPr lang="en-US" dirty="0"/>
          </a:p>
          <a:p>
            <a:pPr lvl="1"/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</a:t>
            </a:r>
            <a:r>
              <a:rPr lang="en-US" dirty="0" err="1"/>
              <a:t>berkait</a:t>
            </a:r>
            <a:r>
              <a:rPr lang="en-US" dirty="0"/>
              <a:t>: </a:t>
            </a:r>
            <a:r>
              <a:rPr lang="en-US" dirty="0" err="1"/>
              <a:t>penyimpanan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berpencar-pencar</a:t>
            </a:r>
            <a:r>
              <a:rPr lang="en-US" dirty="0"/>
              <a:t> di </a:t>
            </a:r>
            <a:r>
              <a:rPr lang="en-US" dirty="0" err="1"/>
              <a:t>memori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ditelusuri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4728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4F0F-29B5-C141-610F-7E37E410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</a:t>
            </a:r>
            <a:r>
              <a:rPr lang="en-US" dirty="0"/>
              <a:t> Data “Standard”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BA69E-7B97-B79B-CD6B-380E491B0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Koleksi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persis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, </a:t>
            </a:r>
            <a:r>
              <a:rPr lang="en-US" dirty="0" err="1"/>
              <a:t>penambahan</a:t>
            </a:r>
            <a:r>
              <a:rPr lang="en-US" dirty="0"/>
              <a:t>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 </a:t>
            </a:r>
            <a:r>
              <a:rPr lang="en-US" dirty="0" err="1"/>
              <a:t>elemennya</a:t>
            </a:r>
            <a:r>
              <a:rPr lang="en-US" dirty="0"/>
              <a:t>, </a:t>
            </a:r>
            <a:r>
              <a:rPr lang="en-US" dirty="0" err="1"/>
              <a:t>antara</a:t>
            </a:r>
            <a:r>
              <a:rPr lang="en-US" dirty="0"/>
              <a:t> lain:</a:t>
            </a:r>
          </a:p>
          <a:p>
            <a:pPr lvl="1"/>
            <a:r>
              <a:rPr lang="en-ID" sz="2800" dirty="0" err="1"/>
              <a:t>Tabel</a:t>
            </a:r>
            <a:endParaRPr lang="en-ID" sz="2800" dirty="0"/>
          </a:p>
          <a:p>
            <a:pPr lvl="1"/>
            <a:r>
              <a:rPr lang="en-ID" sz="2800" dirty="0" err="1"/>
              <a:t>Matriks</a:t>
            </a:r>
            <a:endParaRPr lang="en-ID" sz="2800" dirty="0"/>
          </a:p>
          <a:p>
            <a:pPr lvl="1"/>
            <a:r>
              <a:rPr lang="en-ID" sz="2800" dirty="0"/>
              <a:t>Stack (</a:t>
            </a:r>
            <a:r>
              <a:rPr lang="en-ID" sz="2800" dirty="0" err="1"/>
              <a:t>tumpukan</a:t>
            </a:r>
            <a:r>
              <a:rPr lang="en-ID" sz="2800" dirty="0"/>
              <a:t>)</a:t>
            </a:r>
          </a:p>
          <a:p>
            <a:pPr lvl="1"/>
            <a:r>
              <a:rPr lang="en-ID" sz="2800" dirty="0"/>
              <a:t>Queue (</a:t>
            </a:r>
            <a:r>
              <a:rPr lang="en-ID" sz="2800" dirty="0" err="1"/>
              <a:t>antrian</a:t>
            </a:r>
            <a:r>
              <a:rPr lang="en-ID" sz="2800" dirty="0"/>
              <a:t>)</a:t>
            </a:r>
          </a:p>
          <a:p>
            <a:pPr lvl="1"/>
            <a:r>
              <a:rPr lang="en-ID" sz="2800" dirty="0"/>
              <a:t>List linier</a:t>
            </a:r>
          </a:p>
          <a:p>
            <a:pPr lvl="1"/>
            <a:r>
              <a:rPr lang="en-ID" sz="2800" dirty="0"/>
              <a:t>List </a:t>
            </a:r>
            <a:r>
              <a:rPr lang="en-ID" sz="2800" dirty="0" err="1"/>
              <a:t>tidak</a:t>
            </a:r>
            <a:r>
              <a:rPr lang="en-ID" sz="2800" dirty="0"/>
              <a:t> linier (</a:t>
            </a:r>
            <a:r>
              <a:rPr lang="en-ID" sz="2800" dirty="0" err="1"/>
              <a:t>pohon</a:t>
            </a:r>
            <a:r>
              <a:rPr lang="en-ID" sz="2800" dirty="0"/>
              <a:t>, </a:t>
            </a:r>
            <a:r>
              <a:rPr lang="en-ID" sz="2800" dirty="0" err="1"/>
              <a:t>graf</a:t>
            </a:r>
            <a:r>
              <a:rPr lang="en-ID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1129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575C-0C01-1336-D9FB-C74BD248D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Vs </a:t>
            </a:r>
            <a:r>
              <a:rPr lang="en-US" dirty="0" err="1"/>
              <a:t>Elemen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C3E4E-72CE-DE55-2A3C-7A5E46D8D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Penyusun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	Vs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Koleksi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06541B-BA3F-10B2-CF16-7E59AC13A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7445" y="1766569"/>
            <a:ext cx="2159635" cy="4003316"/>
          </a:xfrm>
          <a:prstGeom prst="rect">
            <a:avLst/>
          </a:prstGeom>
        </p:spPr>
      </p:pic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DE1C0016-A20F-4679-9115-8802AB21F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017744"/>
              </p:ext>
            </p:extLst>
          </p:nvPr>
        </p:nvGraphicFramePr>
        <p:xfrm>
          <a:off x="802640" y="2794159"/>
          <a:ext cx="85750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1440">
                  <a:extLst>
                    <a:ext uri="{9D8B030D-6E8A-4147-A177-3AD203B41FA5}">
                      <a16:colId xmlns:a16="http://schemas.microsoft.com/office/drawing/2014/main" val="2683672016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929966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Kepala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2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Badan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853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Tangan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tanganKanan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tanganKiri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137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Kaki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kakiKanan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kakiKiri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1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Rambut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rambut1, rambut2, rambut3, …, </a:t>
                      </a:r>
                      <a:r>
                        <a:rPr lang="en-US" sz="2400" dirty="0" err="1"/>
                        <a:t>rambutN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1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90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97F3-0683-5DA6-2ED3-E527E024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Array/</a:t>
            </a:r>
            <a:r>
              <a:rPr lang="en-US" dirty="0" err="1"/>
              <a:t>Larik</a:t>
            </a:r>
            <a:r>
              <a:rPr lang="en-US" dirty="0"/>
              <a:t>/</a:t>
            </a:r>
            <a:r>
              <a:rPr lang="en-US" dirty="0" err="1"/>
              <a:t>Tabel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AFC9D-7C47-333C-4D0C-BDC29F3D3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68780"/>
            <a:ext cx="11404600" cy="4748214"/>
          </a:xfrm>
        </p:spPr>
        <p:txBody>
          <a:bodyPr>
            <a:normAutofit/>
          </a:bodyPr>
          <a:lstStyle/>
          <a:p>
            <a:r>
              <a:rPr lang="en-US" dirty="0" err="1"/>
              <a:t>Objek</a:t>
            </a:r>
            <a:r>
              <a:rPr lang="en-US" dirty="0"/>
              <a:t> unit </a:t>
            </a:r>
            <a:r>
              <a:rPr lang="en-US" dirty="0" err="1"/>
              <a:t>kolektif</a:t>
            </a:r>
            <a:r>
              <a:rPr lang="en-US" dirty="0"/>
              <a:t> 1 </a:t>
            </a:r>
            <a:r>
              <a:rPr lang="en-US" dirty="0" err="1"/>
              <a:t>dimensi</a:t>
            </a:r>
            <a:r>
              <a:rPr lang="en-US" dirty="0"/>
              <a:t>.</a:t>
            </a:r>
          </a:p>
          <a:p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,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kosong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(</a:t>
            </a:r>
            <a:r>
              <a:rPr lang="en-US" i="1" dirty="0"/>
              <a:t>value/info</a:t>
            </a:r>
            <a:r>
              <a:rPr lang="en-US" dirty="0"/>
              <a:t>)</a:t>
            </a:r>
          </a:p>
          <a:p>
            <a:r>
              <a:rPr lang="en-US" dirty="0"/>
              <a:t>Pada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kontigu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kapasitas</a:t>
            </a:r>
            <a:endParaRPr lang="en-US" dirty="0"/>
          </a:p>
          <a:p>
            <a:pPr lvl="1"/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(</a:t>
            </a:r>
            <a:r>
              <a:rPr lang="en-US" i="1" dirty="0"/>
              <a:t>index</a:t>
            </a:r>
            <a:r>
              <a:rPr lang="en-US" dirty="0"/>
              <a:t>)</a:t>
            </a:r>
          </a:p>
          <a:p>
            <a:r>
              <a:rPr lang="en-US" dirty="0"/>
              <a:t>Pada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berkait</a:t>
            </a:r>
            <a:endParaRPr lang="en-US" dirty="0"/>
          </a:p>
          <a:p>
            <a:pPr lvl="1"/>
            <a:r>
              <a:rPr lang="en-US" dirty="0" err="1"/>
              <a:t>Dibatasi</a:t>
            </a:r>
            <a:r>
              <a:rPr lang="en-US" dirty="0"/>
              <a:t> </a:t>
            </a:r>
            <a:r>
              <a:rPr lang="en-US" dirty="0" err="1"/>
              <a:t>memori</a:t>
            </a:r>
            <a:endParaRPr lang="en-US" dirty="0"/>
          </a:p>
          <a:p>
            <a:pPr lvl="1"/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Alamat (</a:t>
            </a:r>
            <a:r>
              <a:rPr lang="en-US" i="1" dirty="0"/>
              <a:t>address</a:t>
            </a:r>
            <a:r>
              <a:rPr lang="en-US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091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146C2F-ABAC-6FB8-7537-130430C04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711" y="1143000"/>
            <a:ext cx="10290719" cy="527399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4FAF0A-FD98-DF6A-C6C3-AD713A18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</a:t>
            </a:r>
            <a:r>
              <a:rPr lang="en-US" dirty="0" err="1"/>
              <a:t>Tabel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92798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8555-CBFD-1BE8-25FF-FE35787D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52A6-4EEF-FDAF-C3BE-8DBA5760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2FC3A-E9AB-8895-B63B-6CDF6EB5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01" y="314068"/>
            <a:ext cx="8798124" cy="61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93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</a:t>
            </a:r>
            <a:r>
              <a:rPr lang="en-US" dirty="0" err="1"/>
              <a:t>Tabel</a:t>
            </a:r>
            <a:r>
              <a:rPr lang="en-US" dirty="0"/>
              <a:t> –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Kontigu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dan type </a:t>
            </a:r>
            <a:r>
              <a:rPr lang="en-US" dirty="0" err="1"/>
              <a:t>elemen</a:t>
            </a:r>
            <a:r>
              <a:rPr lang="en-US" dirty="0"/>
              <a:t> table </a:t>
            </a:r>
            <a:r>
              <a:rPr lang="en-US" dirty="0" err="1"/>
              <a:t>ditentukan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mendefinisikan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.</a:t>
            </a:r>
          </a:p>
          <a:p>
            <a:r>
              <a:rPr lang="en-US" dirty="0" err="1"/>
              <a:t>Asumsi</a:t>
            </a:r>
            <a:r>
              <a:rPr lang="en-US" dirty="0"/>
              <a:t>: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</a:t>
            </a:r>
          </a:p>
          <a:p>
            <a:pPr marL="263525" indent="0">
              <a:buNone/>
            </a:pP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wadah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array[1…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IdxMax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of </a:t>
            </a:r>
            <a:r>
              <a:rPr 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ElmtType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size :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efektif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&gt;</a:t>
            </a:r>
          </a:p>
          <a:p>
            <a:pPr marL="263525" indent="0">
              <a:buNone/>
            </a:pPr>
            <a:r>
              <a:rPr lang="en-US" dirty="0"/>
              <a:t>Jika </a:t>
            </a:r>
            <a:r>
              <a:rPr lang="en-US" dirty="0" err="1"/>
              <a:t>dideklarasi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T.wadah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wadah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seluruh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elemen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)}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T.wadah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]{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elemen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ke-i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mengembalikan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ukuran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yang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terisi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14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</a:t>
            </a:r>
            <a:r>
              <a:rPr lang="en-US" dirty="0" err="1"/>
              <a:t>Tabel</a:t>
            </a:r>
            <a:r>
              <a:rPr lang="en-US" dirty="0"/>
              <a:t> –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Kontigu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elemennya</a:t>
            </a:r>
            <a:r>
              <a:rPr lang="en-US" dirty="0"/>
              <a:t> </a:t>
            </a:r>
            <a:r>
              <a:rPr lang="en-US" dirty="0" err="1"/>
              <a:t>bertipe</a:t>
            </a:r>
            <a:r>
              <a:rPr lang="en-US" dirty="0"/>
              <a:t> integer:</a:t>
            </a:r>
          </a:p>
          <a:p>
            <a:pPr marL="263525" indent="0">
              <a:buNone/>
            </a:pP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wadah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[1…10]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size :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&gt;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042B36-4F39-D1DD-A62C-A58FF6E58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516385"/>
              </p:ext>
            </p:extLst>
          </p:nvPr>
        </p:nvGraphicFramePr>
        <p:xfrm>
          <a:off x="1140460" y="3776028"/>
          <a:ext cx="9786620" cy="117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662">
                  <a:extLst>
                    <a:ext uri="{9D8B030D-6E8A-4147-A177-3AD203B41FA5}">
                      <a16:colId xmlns:a16="http://schemas.microsoft.com/office/drawing/2014/main" val="2457549457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090512685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2703426680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237767879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1299208724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557419107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523414962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147902397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466275446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407011477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ID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369"/>
                  </a:ext>
                </a:extLst>
              </a:tr>
              <a:tr h="31083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0820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ABB46C-E309-7DC4-9CE3-28078DB7F0A3}"/>
              </a:ext>
            </a:extLst>
          </p:cNvPr>
          <p:cNvSpPr txBox="1"/>
          <p:nvPr/>
        </p:nvSpPr>
        <p:spPr>
          <a:xfrm>
            <a:off x="10843260" y="3858429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size = 4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6EFD04F-CEF5-981C-0A24-AE0260996D24}"/>
              </a:ext>
            </a:extLst>
          </p:cNvPr>
          <p:cNvSpPr/>
          <p:nvPr/>
        </p:nvSpPr>
        <p:spPr>
          <a:xfrm>
            <a:off x="81915" y="3099256"/>
            <a:ext cx="948690" cy="442153"/>
          </a:xfrm>
          <a:prstGeom prst="wedgeRoundRectCallout">
            <a:avLst>
              <a:gd name="adj1" fmla="val 86396"/>
              <a:gd name="adj2" fmla="val 15297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Elemen</a:t>
            </a:r>
            <a:endParaRPr lang="en-ID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7BFF4032-ED2F-C1C0-7176-8C2B7A62E409}"/>
              </a:ext>
            </a:extLst>
          </p:cNvPr>
          <p:cNvSpPr/>
          <p:nvPr/>
        </p:nvSpPr>
        <p:spPr>
          <a:xfrm>
            <a:off x="146050" y="5580601"/>
            <a:ext cx="948690" cy="442153"/>
          </a:xfrm>
          <a:prstGeom prst="wedgeRoundRectCallout">
            <a:avLst>
              <a:gd name="adj1" fmla="val 102059"/>
              <a:gd name="adj2" fmla="val -16240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Index</a:t>
            </a:r>
            <a:endParaRPr lang="en-ID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501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341B-1CA3-434C-87E7-8D278316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411480"/>
            <a:ext cx="11404600" cy="6137910"/>
          </a:xfrm>
        </p:spPr>
        <p:txBody>
          <a:bodyPr/>
          <a:lstStyle/>
          <a:p>
            <a:r>
              <a:rPr lang="en-US" dirty="0" err="1"/>
              <a:t>Inisialisasi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(</a:t>
            </a:r>
            <a:r>
              <a:rPr lang="en-US" dirty="0" err="1"/>
              <a:t>membuat</a:t>
            </a:r>
            <a:r>
              <a:rPr lang="en-US" dirty="0"/>
              <a:t> table </a:t>
            </a:r>
            <a:r>
              <a:rPr lang="en-US" dirty="0" err="1"/>
              <a:t>kosong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sz="1800" dirty="0"/>
          </a:p>
          <a:p>
            <a:r>
              <a:rPr lang="en-US" dirty="0" err="1"/>
              <a:t>Menambah</a:t>
            </a:r>
            <a:r>
              <a:rPr lang="en-US" dirty="0"/>
              <a:t> 1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5</a:t>
            </a:r>
          </a:p>
          <a:p>
            <a:endParaRPr lang="en-US" sz="1800" dirty="0"/>
          </a:p>
          <a:p>
            <a:endParaRPr lang="en-US" dirty="0"/>
          </a:p>
          <a:p>
            <a:r>
              <a:rPr lang="en-US" dirty="0" err="1"/>
              <a:t>Menambah</a:t>
            </a:r>
            <a:r>
              <a:rPr lang="en-US" dirty="0"/>
              <a:t> 3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10, 5, dan 20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15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659911-3C40-A444-7379-11FBC6A42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64785"/>
              </p:ext>
            </p:extLst>
          </p:nvPr>
        </p:nvGraphicFramePr>
        <p:xfrm>
          <a:off x="1586230" y="903685"/>
          <a:ext cx="8266430" cy="80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643">
                  <a:extLst>
                    <a:ext uri="{9D8B030D-6E8A-4147-A177-3AD203B41FA5}">
                      <a16:colId xmlns:a16="http://schemas.microsoft.com/office/drawing/2014/main" val="245754945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090512685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2703426680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237767879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299208724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55741910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523414962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4790239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66275446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07011477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3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862EBC-07C9-E5E0-897D-FF762672F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308939"/>
              </p:ext>
            </p:extLst>
          </p:nvPr>
        </p:nvGraphicFramePr>
        <p:xfrm>
          <a:off x="1586230" y="2335453"/>
          <a:ext cx="8266430" cy="80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643">
                  <a:extLst>
                    <a:ext uri="{9D8B030D-6E8A-4147-A177-3AD203B41FA5}">
                      <a16:colId xmlns:a16="http://schemas.microsoft.com/office/drawing/2014/main" val="245754945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090512685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2703426680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237767879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299208724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55741910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523414962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4790239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66275446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07011477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36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02A83B-76FD-4722-1B93-610086B18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072768"/>
              </p:ext>
            </p:extLst>
          </p:nvPr>
        </p:nvGraphicFramePr>
        <p:xfrm>
          <a:off x="1586230" y="3767221"/>
          <a:ext cx="8266430" cy="80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643">
                  <a:extLst>
                    <a:ext uri="{9D8B030D-6E8A-4147-A177-3AD203B41FA5}">
                      <a16:colId xmlns:a16="http://schemas.microsoft.com/office/drawing/2014/main" val="245754945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090512685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2703426680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237767879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299208724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55741910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523414962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4790239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66275446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07011477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36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8C1255-E29B-66A7-DCA5-730B94048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73066"/>
              </p:ext>
            </p:extLst>
          </p:nvPr>
        </p:nvGraphicFramePr>
        <p:xfrm>
          <a:off x="1586230" y="5353368"/>
          <a:ext cx="8266430" cy="117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643">
                  <a:extLst>
                    <a:ext uri="{9D8B030D-6E8A-4147-A177-3AD203B41FA5}">
                      <a16:colId xmlns:a16="http://schemas.microsoft.com/office/drawing/2014/main" val="245754945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090512685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2703426680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237767879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299208724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55741910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523414962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147902397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66275446"/>
                    </a:ext>
                  </a:extLst>
                </a:gridCol>
                <a:gridCol w="826643">
                  <a:extLst>
                    <a:ext uri="{9D8B030D-6E8A-4147-A177-3AD203B41FA5}">
                      <a16:colId xmlns:a16="http://schemas.microsoft.com/office/drawing/2014/main" val="3407011477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ID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369"/>
                  </a:ext>
                </a:extLst>
              </a:tr>
              <a:tr h="31083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ID" sz="1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0820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C4EBC51-5888-1935-2DEF-3947648B05DB}"/>
              </a:ext>
            </a:extLst>
          </p:cNvPr>
          <p:cNvSpPr txBox="1"/>
          <p:nvPr/>
        </p:nvSpPr>
        <p:spPr>
          <a:xfrm>
            <a:off x="9852660" y="1031266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size =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A8A82C-2480-6099-2EF1-413AD31B43A1}"/>
              </a:ext>
            </a:extLst>
          </p:cNvPr>
          <p:cNvSpPr txBox="1"/>
          <p:nvPr/>
        </p:nvSpPr>
        <p:spPr>
          <a:xfrm>
            <a:off x="9864090" y="2399243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size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91705-A35F-75A3-3A24-3C7C4FEA0DF0}"/>
              </a:ext>
            </a:extLst>
          </p:cNvPr>
          <p:cNvSpPr txBox="1"/>
          <p:nvPr/>
        </p:nvSpPr>
        <p:spPr>
          <a:xfrm>
            <a:off x="9852660" y="3833420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size =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80D9F-1B67-0E17-F90D-08DF41E4ACDD}"/>
              </a:ext>
            </a:extLst>
          </p:cNvPr>
          <p:cNvSpPr txBox="1"/>
          <p:nvPr/>
        </p:nvSpPr>
        <p:spPr>
          <a:xfrm>
            <a:off x="9852660" y="5494348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size = 3</a:t>
            </a:r>
          </a:p>
        </p:txBody>
      </p:sp>
    </p:spTree>
    <p:extLst>
      <p:ext uri="{BB962C8B-B14F-4D97-AF65-F5344CB8AC3E}">
        <p14:creationId xmlns:p14="http://schemas.microsoft.com/office/powerpoint/2010/main" val="757756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</a:t>
            </a:r>
            <a:r>
              <a:rPr lang="en-US" dirty="0" err="1"/>
              <a:t>Tabel</a:t>
            </a:r>
            <a:r>
              <a:rPr lang="en-US" dirty="0"/>
              <a:t> –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Kontigu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elemennya</a:t>
            </a:r>
            <a:r>
              <a:rPr lang="en-US" dirty="0"/>
              <a:t> </a:t>
            </a:r>
            <a:r>
              <a:rPr lang="en-US" dirty="0" err="1"/>
              <a:t>bertipe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:</a:t>
            </a:r>
          </a:p>
          <a:p>
            <a:pPr marL="263525" indent="0">
              <a:buNone/>
            </a:pP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wadah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[1…10]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Titik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        size : 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 &gt;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042B36-4F39-D1DD-A62C-A58FF6E58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32472"/>
              </p:ext>
            </p:extLst>
          </p:nvPr>
        </p:nvGraphicFramePr>
        <p:xfrm>
          <a:off x="1140460" y="3776028"/>
          <a:ext cx="9786620" cy="117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662">
                  <a:extLst>
                    <a:ext uri="{9D8B030D-6E8A-4147-A177-3AD203B41FA5}">
                      <a16:colId xmlns:a16="http://schemas.microsoft.com/office/drawing/2014/main" val="2457549457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090512685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2703426680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237767879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1299208724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557419107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523414962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147902397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466275446"/>
                    </a:ext>
                  </a:extLst>
                </a:gridCol>
                <a:gridCol w="978662">
                  <a:extLst>
                    <a:ext uri="{9D8B030D-6E8A-4147-A177-3AD203B41FA5}">
                      <a16:colId xmlns:a16="http://schemas.microsoft.com/office/drawing/2014/main" val="3407011477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&lt;3,4&gt;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&lt;-7,8&gt;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&lt;6,9&gt;</a:t>
                      </a:r>
                      <a:endParaRPr lang="en-ID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D" sz="3200" dirty="0"/>
                    </a:p>
                  </a:txBody>
                  <a:tcPr anchor="ctr">
                    <a:lnB w="38100" cmpd="sng"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369"/>
                  </a:ext>
                </a:extLst>
              </a:tr>
              <a:tr h="31083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9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10</a:t>
                      </a:r>
                      <a:endParaRPr lang="en-ID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0820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ABB46C-E309-7DC4-9CE3-28078DB7F0A3}"/>
              </a:ext>
            </a:extLst>
          </p:cNvPr>
          <p:cNvSpPr txBox="1"/>
          <p:nvPr/>
        </p:nvSpPr>
        <p:spPr>
          <a:xfrm>
            <a:off x="10843260" y="3858429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size = 3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6EFD04F-CEF5-981C-0A24-AE0260996D24}"/>
              </a:ext>
            </a:extLst>
          </p:cNvPr>
          <p:cNvSpPr/>
          <p:nvPr/>
        </p:nvSpPr>
        <p:spPr>
          <a:xfrm>
            <a:off x="81915" y="3099256"/>
            <a:ext cx="948690" cy="442153"/>
          </a:xfrm>
          <a:prstGeom prst="wedgeRoundRectCallout">
            <a:avLst>
              <a:gd name="adj1" fmla="val 86396"/>
              <a:gd name="adj2" fmla="val 15297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ysClr val="windowText" lastClr="000000"/>
                </a:solidFill>
              </a:rPr>
              <a:t>Elemen</a:t>
            </a:r>
            <a:endParaRPr lang="en-ID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7BFF4032-ED2F-C1C0-7176-8C2B7A62E409}"/>
              </a:ext>
            </a:extLst>
          </p:cNvPr>
          <p:cNvSpPr/>
          <p:nvPr/>
        </p:nvSpPr>
        <p:spPr>
          <a:xfrm>
            <a:off x="146050" y="5580601"/>
            <a:ext cx="948690" cy="442153"/>
          </a:xfrm>
          <a:prstGeom prst="wedgeRoundRectCallout">
            <a:avLst>
              <a:gd name="adj1" fmla="val 102059"/>
              <a:gd name="adj2" fmla="val -16240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Index</a:t>
            </a:r>
            <a:endParaRPr lang="en-ID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523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33632"/>
            <a:ext cx="10515600" cy="1198158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ADT </a:t>
            </a:r>
            <a:r>
              <a:rPr lang="en-US" dirty="0" err="1"/>
              <a:t>Tabel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3494"/>
            <a:ext cx="11404600" cy="52120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Initiator: </a:t>
            </a:r>
          </a:p>
          <a:p>
            <a:pPr lvl="1"/>
            <a:r>
              <a:rPr lang="en-US" dirty="0" err="1"/>
              <a:t>createTable</a:t>
            </a:r>
            <a:r>
              <a:rPr lang="en-US" dirty="0"/>
              <a:t>: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kosong</a:t>
            </a:r>
            <a:endParaRPr lang="en-US" dirty="0"/>
          </a:p>
          <a:p>
            <a:r>
              <a:rPr lang="en-US" dirty="0" err="1"/>
              <a:t>Selektor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getSize</a:t>
            </a:r>
            <a:r>
              <a:rPr lang="en-US" dirty="0"/>
              <a:t>: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getMaxSize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size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  <a:p>
            <a:pPr lvl="1"/>
            <a:r>
              <a:rPr lang="en-US" dirty="0" err="1"/>
              <a:t>T.wadah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]: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ke-i</a:t>
            </a:r>
            <a:endParaRPr lang="en-US" dirty="0"/>
          </a:p>
          <a:p>
            <a:r>
              <a:rPr lang="en-US" dirty="0" err="1"/>
              <a:t>Predikat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isEmptyTable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kosong</a:t>
            </a:r>
            <a:endParaRPr lang="en-US" dirty="0"/>
          </a:p>
          <a:p>
            <a:pPr lvl="1"/>
            <a:r>
              <a:rPr lang="en-US" dirty="0" err="1"/>
              <a:t>isFullTable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penuh</a:t>
            </a:r>
            <a:endParaRPr lang="en-US" dirty="0"/>
          </a:p>
          <a:p>
            <a:r>
              <a:rPr lang="en-US" dirty="0"/>
              <a:t>Mutator: </a:t>
            </a:r>
          </a:p>
          <a:p>
            <a:pPr lvl="1"/>
            <a:r>
              <a:rPr lang="en-US" dirty="0" err="1"/>
              <a:t>addXTable</a:t>
            </a:r>
            <a:r>
              <a:rPr lang="en-US" dirty="0"/>
              <a:t>: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pada table (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kontigu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delXTable</a:t>
            </a:r>
            <a:r>
              <a:rPr lang="en-US" dirty="0"/>
              <a:t>: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  <a:p>
            <a:pPr lvl="1"/>
            <a:r>
              <a:rPr lang="en-US" dirty="0" err="1"/>
              <a:t>delAllXTable</a:t>
            </a:r>
            <a:r>
              <a:rPr lang="en-US" dirty="0"/>
              <a:t>: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2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D8A01-FA8C-3550-57E1-341DD375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6EC4-D902-FFC0-486C-9586E082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33632"/>
            <a:ext cx="10515600" cy="1198158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ADT </a:t>
            </a:r>
            <a:r>
              <a:rPr lang="en-US" dirty="0" err="1"/>
              <a:t>Tabel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83EC-FA9F-3FBE-9D25-463BB00F8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3494"/>
            <a:ext cx="11404600" cy="5212080"/>
          </a:xfrm>
        </p:spPr>
        <p:txBody>
          <a:bodyPr>
            <a:normAutofit/>
          </a:bodyPr>
          <a:lstStyle/>
          <a:p>
            <a:r>
              <a:rPr lang="en-US" dirty="0"/>
              <a:t>Baca/Tulis</a:t>
            </a:r>
          </a:p>
          <a:p>
            <a:pPr lvl="1"/>
            <a:r>
              <a:rPr lang="en-US" dirty="0" err="1"/>
              <a:t>populateTable</a:t>
            </a:r>
            <a:r>
              <a:rPr lang="en-US" dirty="0"/>
              <a:t>: </a:t>
            </a:r>
            <a:r>
              <a:rPr lang="en-ID" dirty="0" err="1"/>
              <a:t>mengisi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T.wadah</a:t>
            </a:r>
            <a:r>
              <a:rPr lang="en-ID" dirty="0"/>
              <a:t> </a:t>
            </a:r>
            <a:r>
              <a:rPr lang="en-ID" dirty="0" err="1"/>
              <a:t>sebanyak</a:t>
            </a:r>
            <a:r>
              <a:rPr lang="en-ID" dirty="0"/>
              <a:t> N kali </a:t>
            </a:r>
            <a:r>
              <a:rPr lang="en-ID" dirty="0" err="1"/>
              <a:t>dari</a:t>
            </a:r>
            <a:r>
              <a:rPr lang="en-ID" dirty="0"/>
              <a:t> keyboard.</a:t>
            </a:r>
          </a:p>
          <a:p>
            <a:pPr lvl="1"/>
            <a:r>
              <a:rPr lang="fi-FI" dirty="0"/>
              <a:t>printTable: menampilkan semua elemen T ke layar</a:t>
            </a:r>
          </a:p>
          <a:p>
            <a:pPr lvl="1"/>
            <a:r>
              <a:rPr lang="fi-FI" dirty="0"/>
              <a:t>viewTable: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elemen</a:t>
            </a:r>
            <a:r>
              <a:rPr lang="en-ID" dirty="0"/>
              <a:t> T yang </a:t>
            </a:r>
            <a:r>
              <a:rPr lang="en-ID" dirty="0" err="1"/>
              <a:t>terisi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layar</a:t>
            </a:r>
            <a:endParaRPr lang="en-ID" dirty="0"/>
          </a:p>
          <a:p>
            <a:pPr lvl="1"/>
            <a:endParaRPr lang="fi-FI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654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441007"/>
            <a:ext cx="10515600" cy="839154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ADT </a:t>
            </a:r>
            <a:r>
              <a:rPr lang="en-US" dirty="0" err="1"/>
              <a:t>Tabel</a:t>
            </a:r>
            <a:r>
              <a:rPr lang="en-US" dirty="0"/>
              <a:t> (cont.)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83030"/>
            <a:ext cx="11404600" cy="529209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Operator Search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searchXTable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X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pada table dan </a:t>
            </a:r>
            <a:r>
              <a:rPr lang="en-US" dirty="0" err="1"/>
              <a:t>mengambalikan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terkecilnya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IsXElmtTable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X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pada table dan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Boolean.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countXTable</a:t>
            </a:r>
            <a:r>
              <a:rPr lang="en-US" dirty="0"/>
              <a:t>: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X di </a:t>
            </a:r>
            <a:r>
              <a:rPr lang="en-US" dirty="0" err="1"/>
              <a:t>dalam</a:t>
            </a:r>
            <a:r>
              <a:rPr lang="en-US" dirty="0"/>
              <a:t> table</a:t>
            </a:r>
          </a:p>
          <a:p>
            <a:pPr>
              <a:lnSpc>
                <a:spcPct val="110000"/>
              </a:lnSpc>
            </a:pPr>
            <a:r>
              <a:rPr lang="en-US" dirty="0"/>
              <a:t>Operator statistic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getSumTable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elemen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getAverageTable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rata-rata </a:t>
            </a:r>
            <a:r>
              <a:rPr lang="en-US" dirty="0" err="1"/>
              <a:t>elemen</a:t>
            </a:r>
            <a:r>
              <a:rPr lang="en-US" dirty="0"/>
              <a:t> table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getModusTable</a:t>
            </a:r>
            <a:r>
              <a:rPr lang="en-US" dirty="0"/>
              <a:t>: </a:t>
            </a:r>
            <a:r>
              <a:rPr lang="en-US" dirty="0" err="1"/>
              <a:t>mengembalikan</a:t>
            </a:r>
            <a:r>
              <a:rPr lang="en-US" dirty="0"/>
              <a:t> modus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kemunculan</a:t>
            </a:r>
            <a:r>
              <a:rPr lang="en-US" dirty="0"/>
              <a:t> </a:t>
            </a:r>
            <a:r>
              <a:rPr lang="en-US" dirty="0" err="1"/>
              <a:t>terbanyak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getMinTable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minimum pada table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getIdxMinTable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minimum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getMaxTable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maksimum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getIdxMaxTable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indeks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yang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maksimum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74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262890"/>
            <a:ext cx="10515600" cy="1325563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ADT </a:t>
            </a:r>
            <a:r>
              <a:rPr lang="en-US" dirty="0" err="1"/>
              <a:t>Tabel</a:t>
            </a:r>
            <a:r>
              <a:rPr lang="en-US" dirty="0"/>
              <a:t> (cont.)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543050"/>
            <a:ext cx="11404600" cy="5052060"/>
          </a:xfrm>
        </p:spPr>
        <p:txBody>
          <a:bodyPr>
            <a:normAutofit/>
          </a:bodyPr>
          <a:lstStyle/>
          <a:p>
            <a:r>
              <a:rPr lang="en-US" dirty="0"/>
              <a:t>Operator Sort</a:t>
            </a:r>
          </a:p>
          <a:p>
            <a:pPr lvl="1"/>
            <a:r>
              <a:rPr lang="en-US" dirty="0" err="1"/>
              <a:t>sortTableAsc</a:t>
            </a:r>
            <a:r>
              <a:rPr lang="en-US" dirty="0"/>
              <a:t>: </a:t>
            </a:r>
            <a:r>
              <a:rPr lang="en-US" dirty="0" err="1"/>
              <a:t>Mengurutkan</a:t>
            </a:r>
            <a:r>
              <a:rPr lang="en-US" dirty="0"/>
              <a:t> table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elemennya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menaik</a:t>
            </a:r>
            <a:r>
              <a:rPr lang="en-US" dirty="0"/>
              <a:t>/</a:t>
            </a:r>
            <a:r>
              <a:rPr lang="en-US" dirty="0" err="1"/>
              <a:t>membesar</a:t>
            </a:r>
            <a:endParaRPr lang="en-US" dirty="0"/>
          </a:p>
          <a:p>
            <a:pPr lvl="1"/>
            <a:r>
              <a:rPr lang="en-US" dirty="0" err="1"/>
              <a:t>sortTableDesc</a:t>
            </a:r>
            <a:r>
              <a:rPr lang="en-US" dirty="0"/>
              <a:t>: </a:t>
            </a:r>
            <a:r>
              <a:rPr lang="en-US" dirty="0" err="1"/>
              <a:t>Mengurutkan</a:t>
            </a:r>
            <a:r>
              <a:rPr lang="en-US" dirty="0"/>
              <a:t> table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elemennya</a:t>
            </a:r>
            <a:r>
              <a:rPr lang="en-US" dirty="0"/>
              <a:t> </a:t>
            </a:r>
            <a:r>
              <a:rPr lang="en-US" dirty="0" err="1"/>
              <a:t>terurut</a:t>
            </a:r>
            <a:r>
              <a:rPr lang="en-US" dirty="0"/>
              <a:t> </a:t>
            </a:r>
            <a:r>
              <a:rPr lang="en-US" dirty="0" err="1"/>
              <a:t>mengecil</a:t>
            </a:r>
            <a:r>
              <a:rPr lang="en-US" dirty="0"/>
              <a:t>/ </a:t>
            </a:r>
            <a:r>
              <a:rPr lang="en-US" dirty="0" err="1"/>
              <a:t>menurun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Operator </a:t>
            </a:r>
            <a:r>
              <a:rPr lang="en-US" dirty="0" err="1"/>
              <a:t>relasional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isEqualTable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T1 = T2 (T1 dan T2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isLessTable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T1 &lt; T2 (T1 dan T2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,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T1 &lt; T2 pada </a:t>
            </a:r>
            <a:r>
              <a:rPr lang="en-US" dirty="0" err="1"/>
              <a:t>indeks</a:t>
            </a:r>
            <a:r>
              <a:rPr lang="en-US" dirty="0"/>
              <a:t> yang </a:t>
            </a:r>
            <a:r>
              <a:rPr lang="en-US" dirty="0" err="1"/>
              <a:t>bersesuaian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isGreaterTable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T1 &gt; T2 (T1 dan T2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,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T1 &gt; T2 pada </a:t>
            </a:r>
            <a:r>
              <a:rPr lang="en-US" dirty="0" err="1"/>
              <a:t>indeks</a:t>
            </a:r>
            <a:r>
              <a:rPr lang="en-US" dirty="0"/>
              <a:t> yang </a:t>
            </a:r>
            <a:r>
              <a:rPr lang="en-US" dirty="0" err="1"/>
              <a:t>bersesuaian</a:t>
            </a:r>
            <a:r>
              <a:rPr lang="en-US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8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1848-9A8E-562C-256D-966B3C17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262890"/>
            <a:ext cx="10515600" cy="1325563"/>
          </a:xfrm>
        </p:spPr>
        <p:txBody>
          <a:bodyPr/>
          <a:lstStyle/>
          <a:p>
            <a:r>
              <a:rPr lang="en-US" dirty="0" err="1"/>
              <a:t>Primitif</a:t>
            </a:r>
            <a:r>
              <a:rPr lang="en-US" dirty="0"/>
              <a:t> ADT </a:t>
            </a:r>
            <a:r>
              <a:rPr lang="en-US" dirty="0" err="1"/>
              <a:t>Tabel</a:t>
            </a:r>
            <a:r>
              <a:rPr lang="en-US" dirty="0"/>
              <a:t> (cont.)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9CC77-EEA3-E05C-5955-50F66727C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543050"/>
            <a:ext cx="11404600" cy="505206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Operator </a:t>
            </a:r>
            <a:r>
              <a:rPr lang="en-US" dirty="0" err="1"/>
              <a:t>lainnya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 err="1"/>
              <a:t>isSimetrisTable</a:t>
            </a:r>
            <a:r>
              <a:rPr lang="en-US" dirty="0"/>
              <a:t>: </a:t>
            </a:r>
            <a:r>
              <a:rPr lang="en-US" dirty="0" err="1"/>
              <a:t>Mengecek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table </a:t>
            </a:r>
            <a:r>
              <a:rPr lang="en-US" dirty="0" err="1"/>
              <a:t>simetris</a:t>
            </a:r>
            <a:r>
              <a:rPr lang="en-US" dirty="0"/>
              <a:t>.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simetris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=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,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=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, </a:t>
            </a:r>
            <a:r>
              <a:rPr lang="en-US" dirty="0" err="1"/>
              <a:t>dst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inverseTable</a:t>
            </a:r>
            <a:r>
              <a:rPr lang="en-US" dirty="0"/>
              <a:t>: </a:t>
            </a:r>
            <a:r>
              <a:rPr lang="en-US" dirty="0" err="1"/>
              <a:t>Menghasilkan</a:t>
            </a:r>
            <a:r>
              <a:rPr lang="en-US" dirty="0"/>
              <a:t> table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yang </a:t>
            </a:r>
            <a:r>
              <a:rPr lang="en-US" dirty="0" err="1"/>
              <a:t>terbalik</a:t>
            </a:r>
            <a:r>
              <a:rPr lang="en-US" dirty="0"/>
              <a:t>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,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, </a:t>
            </a:r>
            <a:r>
              <a:rPr lang="en-US" dirty="0" err="1"/>
              <a:t>dst</a:t>
            </a:r>
            <a:r>
              <a:rPr lang="en-US" dirty="0"/>
              <a:t>.)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copyTable</a:t>
            </a:r>
            <a:r>
              <a:rPr lang="en-US" dirty="0"/>
              <a:t>: </a:t>
            </a:r>
            <a:r>
              <a:rPr lang="en-US" dirty="0" err="1"/>
              <a:t>Menyalin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table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addUniqueXTable</a:t>
            </a:r>
            <a:r>
              <a:rPr lang="en-US" dirty="0"/>
              <a:t>: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 X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(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</a:t>
            </a:r>
            <a:r>
              <a:rPr lang="en-US" dirty="0" err="1"/>
              <a:t>tabel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36378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7A78-29BB-8785-4DDB-3424A1423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480060"/>
            <a:ext cx="11404600" cy="581564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{DEFINISI TYPE}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: &lt;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wadah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[1…10]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size :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ukuran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 &gt;</a:t>
            </a:r>
          </a:p>
          <a:p>
            <a:pPr marL="0" indent="0"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{DEFINISI DAN SPESIFIKASI PRIMITIF}</a:t>
            </a:r>
          </a:p>
          <a:p>
            <a:pPr marL="0" indent="0">
              <a:buNone/>
            </a:pP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createTable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{I.S.: -}</a:t>
            </a:r>
          </a:p>
          <a:p>
            <a:pPr marL="0" indent="0"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{F.S.: size=0,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setiap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=-999}</a:t>
            </a:r>
          </a:p>
          <a:p>
            <a:pPr marL="0" indent="0"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menginisialisasi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T}</a:t>
            </a:r>
          </a:p>
          <a:p>
            <a:pPr marL="0" indent="0"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21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isEmptyTable</a:t>
            </a: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 T: </a:t>
            </a:r>
            <a:r>
              <a:rPr lang="en-ID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ID" sz="21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ID" sz="21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ID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True </a:t>
            </a:r>
            <a:r>
              <a:rPr lang="en-ID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T </a:t>
            </a:r>
            <a:r>
              <a:rPr lang="en-ID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kosong</a:t>
            </a:r>
            <a:r>
              <a:rPr lang="en-ID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1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isFullTable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 T: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2100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endParaRPr lang="en-US" sz="21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mengembalikan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True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T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penuh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916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7A78-29BB-8785-4DDB-3424A1423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480060"/>
            <a:ext cx="11404600" cy="58156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addXTable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input/output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T:Tabel, input X: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{I.S.: T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X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{F.S.: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T.wadah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bertambah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belum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penuh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T.wadah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dengan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X}</a:t>
            </a:r>
          </a:p>
          <a:p>
            <a:pPr marL="0" indent="0">
              <a:lnSpc>
                <a:spcPct val="110000"/>
              </a:lnSpc>
              <a:buNone/>
            </a:pPr>
            <a:endParaRPr lang="en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delXTable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input/output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T:Tabel, input X: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{I.S.: T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{F.S.: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T.wadah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berkurang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belum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kosong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menghapus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geser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semua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sisa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ID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procedure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searchX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T:Tabel,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X: integer,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Pos: </a:t>
            </a:r>
            <a:r>
              <a:rPr lang="en-ID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{I.S.: T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X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terdefinisi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{F.S.: Pos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posisi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ketemu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di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T.wadah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atau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-999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jika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tidak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ketemu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{Proses: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mencari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bernilai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dalam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D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T.wadah</a:t>
            </a:r>
            <a:r>
              <a:rPr lang="en-ID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154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5278-0FC2-B256-5C20-D0018B28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belajar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A7616-561F-D364-2044-9D48FCBA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Inggriani</a:t>
            </a:r>
            <a:r>
              <a:rPr lang="en-ID" dirty="0"/>
              <a:t> </a:t>
            </a:r>
            <a:r>
              <a:rPr lang="en-ID" dirty="0" err="1"/>
              <a:t>Liem</a:t>
            </a:r>
            <a:r>
              <a:rPr lang="en-ID" dirty="0"/>
              <a:t>. Diktat </a:t>
            </a:r>
            <a:r>
              <a:rPr lang="en-ID" dirty="0" err="1"/>
              <a:t>Struktur</a:t>
            </a:r>
            <a:r>
              <a:rPr lang="en-ID" dirty="0"/>
              <a:t> Data. 2008</a:t>
            </a:r>
          </a:p>
          <a:p>
            <a:r>
              <a:rPr lang="en-ID" dirty="0" err="1"/>
              <a:t>Niclaus</a:t>
            </a:r>
            <a:r>
              <a:rPr lang="en-ID" dirty="0"/>
              <a:t> Wirth. Algorithms and Data Structures. 2004</a:t>
            </a:r>
          </a:p>
          <a:p>
            <a:r>
              <a:rPr lang="en-ID" dirty="0"/>
              <a:t>Standish, Thomas A. Data Structures, Algorithms, &amp; Software Principles in C. Addison Wesley Publishing Company 1995</a:t>
            </a:r>
          </a:p>
          <a:p>
            <a:r>
              <a:rPr lang="en-ID" dirty="0"/>
              <a:t>AHO, Alfred V., John E. Hopcroft, Jeffrey D. Ullman. Data Structures and Algorithm. Addison </a:t>
            </a:r>
            <a:r>
              <a:rPr lang="en-ID" dirty="0" err="1"/>
              <a:t>Weshley</a:t>
            </a:r>
            <a:r>
              <a:rPr lang="en-ID" dirty="0"/>
              <a:t> Publishing Compani.1987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6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507DAB4-AA2B-4421-BFB3-180B95EF4DB0}" vid="{649EB905-1CEB-4DD0-8DD0-7493F3383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if undip</Template>
  <TotalTime>2329</TotalTime>
  <Words>1812</Words>
  <Application>Microsoft Office PowerPoint</Application>
  <PresentationFormat>Widescreen</PresentationFormat>
  <Paragraphs>267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Söhne</vt:lpstr>
      <vt:lpstr>Wingdings</vt:lpstr>
      <vt:lpstr>Office Theme</vt:lpstr>
      <vt:lpstr>PAIK6301 - Struktur Data  ADT - Tabel</vt:lpstr>
      <vt:lpstr>Review</vt:lpstr>
      <vt:lpstr>Jenis ADT</vt:lpstr>
      <vt:lpstr>Koleksi Objek</vt:lpstr>
      <vt:lpstr>Koleksi Objek Sebagai ADT</vt:lpstr>
      <vt:lpstr>Tingkatan Definsi Koleksi Objek</vt:lpstr>
      <vt:lpstr>Struktur Data “Standard”</vt:lpstr>
      <vt:lpstr>Komponen Vs Elemen</vt:lpstr>
      <vt:lpstr>Array/Larik/Tabel</vt:lpstr>
      <vt:lpstr>ADT Tabel</vt:lpstr>
      <vt:lpstr>Modul</vt:lpstr>
      <vt:lpstr>ADT Tabel – Representasi Kontigu</vt:lpstr>
      <vt:lpstr>ADT Tabel – Representasi Kontigu</vt:lpstr>
      <vt:lpstr>PowerPoint Presentation</vt:lpstr>
      <vt:lpstr>ADT Tabel – Representasi Kontigu</vt:lpstr>
      <vt:lpstr>Primitif ADT Tabel</vt:lpstr>
      <vt:lpstr>Primitif ADT Tabel</vt:lpstr>
      <vt:lpstr>Primitif ADT Tabel (cont.)</vt:lpstr>
      <vt:lpstr>Primitif ADT Tabel (cont.)</vt:lpstr>
      <vt:lpstr>Primitif ADT Tabel (cont.)</vt:lpstr>
      <vt:lpstr>PowerPoint Presentation</vt:lpstr>
      <vt:lpstr>PowerPoint Presentation</vt:lpstr>
      <vt:lpstr>Sumber belajar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PAIK6301 - Struktur Data  Abstract Data Type</dc:title>
  <dc:creator>Sandy Kurniawan</dc:creator>
  <cp:lastModifiedBy>Khadijah Alaydrus</cp:lastModifiedBy>
  <cp:revision>64</cp:revision>
  <dcterms:created xsi:type="dcterms:W3CDTF">2023-08-20T15:43:58Z</dcterms:created>
  <dcterms:modified xsi:type="dcterms:W3CDTF">2025-09-01T03:19:36Z</dcterms:modified>
</cp:coreProperties>
</file>