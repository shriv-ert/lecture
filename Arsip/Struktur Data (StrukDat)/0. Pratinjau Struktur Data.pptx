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73" r:id="rId4"/>
    <p:sldId id="274" r:id="rId5"/>
    <p:sldId id="275" r:id="rId6"/>
    <p:sldId id="258" r:id="rId7"/>
    <p:sldId id="259" r:id="rId8"/>
    <p:sldId id="260" r:id="rId9"/>
    <p:sldId id="276" r:id="rId10"/>
    <p:sldId id="261" r:id="rId11"/>
    <p:sldId id="262" r:id="rId12"/>
    <p:sldId id="27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1D350-048B-42F7-B1B8-2D434AA5DF60}" type="datetimeFigureOut">
              <a:rPr lang="en-ID" smtClean="0"/>
              <a:t>24/08/2025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5A925-954B-4DEB-9260-45095FCFF25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779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D6B338-71C7-BCA0-45DB-2478AE14A30A}"/>
              </a:ext>
            </a:extLst>
          </p:cNvPr>
          <p:cNvSpPr/>
          <p:nvPr/>
        </p:nvSpPr>
        <p:spPr>
          <a:xfrm>
            <a:off x="4115579" y="995680"/>
            <a:ext cx="7899401" cy="5059680"/>
          </a:xfrm>
          <a:prstGeom prst="rect">
            <a:avLst/>
          </a:prstGeom>
          <a:solidFill>
            <a:schemeClr val="tx1">
              <a:lumMod val="95000"/>
              <a:lumOff val="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95595-F432-BFE8-C03C-BEACE4C25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1319" y="1122362"/>
            <a:ext cx="7707923" cy="298741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C5010-D0AA-68E2-8063-508B86FE7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592" y="4250452"/>
            <a:ext cx="7616650" cy="100734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10C35-09EA-E536-5C60-D001E8A9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B299-341E-E2A1-B695-EC6931C2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854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34CB-D024-8902-A222-9EF4B07C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44100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8CBE-F6F2-3DB8-183C-4193C2933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4370"/>
            <a:ext cx="11404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63CC5-9712-5985-3784-F4A2B06D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D2BE-5201-7A3C-6646-C96FD0CB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7873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B25A-AECC-3502-C83B-98CD3527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115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A7FDA-B312-412E-739E-B54CC0273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3922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99EEA-BCD3-6838-213C-6BFCD932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B4D8-1EEB-3FAF-3369-E87306347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309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0C34-42CD-5AC0-9731-5418D12D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3306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121D7-51C0-8161-8564-34EB68D80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94040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241E9-2AAE-94F3-08BC-B4E179F7A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5800" y="194040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AE1B8-2BA1-6C60-5E7B-67C834AF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A9F3E-0FAC-26FF-E516-A4FAB946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846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9704-CA00-F343-5C86-6F2B9AB8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68" y="45656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7C74F-8CEB-5427-19D0-FF84E5157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68" y="177260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EC7C7-269A-7111-0478-095E4A4D4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868" y="259651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EAE56-91D6-7591-6DD1-7E113CC43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6280" y="17726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98D11-6C9F-0557-58A5-8AC4A72FF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6280" y="259651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16CB6-D0E4-7045-44D5-826F647F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D13C3-D4C5-FAE4-DC57-B13C071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48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D3F9-304D-D146-726F-FC2C0EB6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5116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47B75-0AC0-47F0-7F5F-3B1C0808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F8457-30CA-FD83-E7A3-55C86E9F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827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2709F-A7B0-22AB-A1D8-547BA559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01FF7-4D34-93DC-F033-4BC1DFE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996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3796-D09F-9343-0B56-A89E7880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46196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DAF63-8B79-72BF-DAD7-22377518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388" y="461962"/>
            <a:ext cx="6571932" cy="57559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1F785-FF54-810B-5540-C51695D8F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0988" y="2062161"/>
            <a:ext cx="3932237" cy="41557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8E575-4962-D63E-F4A9-54523EBD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DD4C3-612F-872F-0FD8-882EE467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589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AA75-CA40-F264-F9D5-9FC8EC4A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D312E-0484-205F-077B-756B53F35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34548" y="457201"/>
            <a:ext cx="6470332" cy="5852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0D47F-20AA-82A9-5AFD-9AA1D7615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1148" y="2057400"/>
            <a:ext cx="3932237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860F9-1014-76DC-7B64-06E889C4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E4E90-928D-FD19-9C95-01C23E4A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184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561D-8DCD-E250-20A0-B7F90FF1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11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79EB8-0408-5BC2-844D-9C0210CC4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005012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E50F-08FA-B99B-0FD3-83AFC51E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BBABF-E789-EDEA-E923-6663B352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2625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51B9B-3A36-2C81-FDE7-019624017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79460" y="34480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84668-D314-A565-9634-B98DC2555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92760" y="34480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0FEFC-0879-7417-9D00-9E1B23D2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D9A30-B237-A4A1-0138-4C97062D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0889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27C7A-DE30-93AD-8D3D-FEB80CB2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66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62F9-6DA7-E659-388A-1AD4C3B9D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304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6AD3-00EF-C388-845C-83CA92163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249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0FD2A-D0DF-0386-B3B5-A358F3AB5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494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51DD-7E69-18E6-B18B-CA94E6990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1960" y="64992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1BB0616-CD6D-43F4-BE21-C45F4E0BE2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989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B8FC-6EFF-5FDB-D73B-66B5D2A306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sz="5400" dirty="0"/>
              <a:t>PAIK6301 - </a:t>
            </a:r>
            <a:r>
              <a:rPr lang="en-ID" sz="5400" dirty="0" err="1"/>
              <a:t>Struktur</a:t>
            </a:r>
            <a:r>
              <a:rPr lang="en-ID" sz="5400" dirty="0"/>
              <a:t> Data</a:t>
            </a:r>
            <a:br>
              <a:rPr lang="en-ID" dirty="0"/>
            </a:br>
            <a:r>
              <a:rPr lang="en-ID" dirty="0" err="1"/>
              <a:t>Pratinjau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AF000-FD45-7C17-7884-AAB06A7058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Gasal 2025/2026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DC582-9812-2CE3-33DD-964FF2B4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0216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E64F-948D-CDEC-076F-9343A9AC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Peta Mata </a:t>
            </a:r>
            <a:r>
              <a:rPr lang="en-ID" dirty="0" err="1"/>
              <a:t>Kuliah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D6694-79AE-D4A5-2B3E-1ACD96F6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Kelompok</a:t>
            </a:r>
            <a:r>
              <a:rPr lang="en-ID" dirty="0"/>
              <a:t> 	 : </a:t>
            </a:r>
            <a:r>
              <a:rPr lang="en-ID" dirty="0" err="1">
                <a:solidFill>
                  <a:srgbClr val="FF0000"/>
                </a:solidFill>
              </a:rPr>
              <a:t>Pemrograman</a:t>
            </a:r>
            <a:endParaRPr lang="en-ID" dirty="0">
              <a:solidFill>
                <a:srgbClr val="FF0000"/>
              </a:solidFill>
            </a:endParaRPr>
          </a:p>
          <a:p>
            <a:r>
              <a:rPr lang="en-ID" dirty="0" err="1"/>
              <a:t>Predesesor</a:t>
            </a:r>
            <a:r>
              <a:rPr lang="en-ID" dirty="0"/>
              <a:t> :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endParaRPr lang="en-ID" dirty="0"/>
          </a:p>
          <a:p>
            <a:r>
              <a:rPr lang="en-ID" dirty="0"/>
              <a:t>Current	 : </a:t>
            </a:r>
            <a:r>
              <a:rPr lang="en-ID" dirty="0" err="1">
                <a:solidFill>
                  <a:srgbClr val="0070C0"/>
                </a:solidFill>
              </a:rPr>
              <a:t>Struktur</a:t>
            </a:r>
            <a:r>
              <a:rPr lang="en-ID" dirty="0">
                <a:solidFill>
                  <a:srgbClr val="0070C0"/>
                </a:solidFill>
              </a:rPr>
              <a:t> Data</a:t>
            </a:r>
          </a:p>
          <a:p>
            <a:r>
              <a:rPr lang="en-ID" dirty="0" err="1"/>
              <a:t>Suksesor</a:t>
            </a:r>
            <a:r>
              <a:rPr lang="en-ID" dirty="0"/>
              <a:t> 	 :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Berorientasi</a:t>
            </a:r>
            <a:r>
              <a:rPr lang="en-ID" dirty="0"/>
              <a:t> </a:t>
            </a:r>
            <a:r>
              <a:rPr lang="en-ID" dirty="0" err="1"/>
              <a:t>Objek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969D7-2B00-B56B-A0BA-4D69A850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262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79E8-000D-8F53-7185-D6D60F55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AFFF-0BB1-4441-4B00-7B037093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Capaian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Lulusan</a:t>
            </a:r>
            <a:r>
              <a:rPr lang="en-ID" dirty="0"/>
              <a:t> (CPL)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FD200-C8D0-7E2D-0AF0-DD5740FD0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CPL-10: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Mampu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rancangan</a:t>
            </a:r>
            <a:r>
              <a:rPr lang="en-ID" dirty="0"/>
              <a:t>, </a:t>
            </a:r>
            <a:r>
              <a:rPr lang="en-ID" dirty="0" err="1"/>
              <a:t>mengimplementasikan</a:t>
            </a:r>
            <a:r>
              <a:rPr lang="en-ID" dirty="0"/>
              <a:t>, dan </a:t>
            </a:r>
            <a:r>
              <a:rPr lang="en-ID" dirty="0" err="1"/>
              <a:t>mengevaluasi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mempertimbangkan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kompleksitas</a:t>
            </a:r>
            <a:r>
              <a:rPr lang="en-ID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80455-14DA-66F8-1AF6-2CCB46DC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195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FF06D-35B6-3B84-47CF-FC78D3E1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2A74-75BE-2E2F-62EB-35B0FE55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57" y="451641"/>
            <a:ext cx="10515600" cy="1325563"/>
          </a:xfrm>
        </p:spPr>
        <p:txBody>
          <a:bodyPr/>
          <a:lstStyle/>
          <a:p>
            <a:r>
              <a:rPr lang="en-ID" dirty="0" err="1"/>
              <a:t>Capaian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Mata </a:t>
            </a:r>
            <a:r>
              <a:rPr lang="en-ID" dirty="0" err="1"/>
              <a:t>Kuliah</a:t>
            </a:r>
            <a:r>
              <a:rPr lang="en-ID" dirty="0"/>
              <a:t> (CPMK)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94747-439E-58B6-8A65-F7265C5D3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20" y="1777204"/>
            <a:ext cx="11663680" cy="472202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D" sz="2400" b="1" dirty="0"/>
              <a:t>CPMK10-2:</a:t>
            </a:r>
            <a:endParaRPr lang="en-ID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D" sz="2400" dirty="0"/>
              <a:t>Mampu </a:t>
            </a:r>
            <a:r>
              <a:rPr lang="en-ID" sz="2400" dirty="0" err="1"/>
              <a:t>menghasilkan</a:t>
            </a:r>
            <a:r>
              <a:rPr lang="en-ID" sz="2400" dirty="0"/>
              <a:t> </a:t>
            </a:r>
            <a:r>
              <a:rPr lang="en-ID" sz="2400" dirty="0" err="1"/>
              <a:t>rancangan</a:t>
            </a:r>
            <a:r>
              <a:rPr lang="en-ID" sz="2400" dirty="0"/>
              <a:t> dan </a:t>
            </a:r>
            <a:r>
              <a:rPr lang="en-ID" sz="2400" dirty="0" err="1"/>
              <a:t>mengimplementasi</a:t>
            </a:r>
            <a:r>
              <a:rPr lang="en-ID" sz="2400" dirty="0"/>
              <a:t> </a:t>
            </a:r>
            <a:r>
              <a:rPr lang="en-ID" sz="2400" dirty="0" err="1"/>
              <a:t>solusi</a:t>
            </a:r>
            <a:r>
              <a:rPr lang="en-ID" sz="2400" dirty="0"/>
              <a:t> </a:t>
            </a:r>
            <a:r>
              <a:rPr lang="en-ID" sz="2400" dirty="0" err="1"/>
              <a:t>berbasis</a:t>
            </a:r>
            <a:r>
              <a:rPr lang="en-ID" sz="2400" dirty="0"/>
              <a:t> </a:t>
            </a:r>
            <a:r>
              <a:rPr lang="en-ID" sz="2400" dirty="0" err="1"/>
              <a:t>algoritma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permasalahan</a:t>
            </a:r>
            <a:r>
              <a:rPr lang="en-ID" sz="2400" dirty="0"/>
              <a:t> </a:t>
            </a:r>
            <a:r>
              <a:rPr lang="en-ID" sz="2400" dirty="0" err="1"/>
              <a:t>kompleks</a:t>
            </a:r>
            <a:r>
              <a:rPr lang="en-ID" sz="2400" dirty="0"/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ID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D" sz="2400" b="1" dirty="0"/>
              <a:t>Sub CPMK10-2:</a:t>
            </a:r>
            <a:endParaRPr lang="en-ID" sz="2400" dirty="0"/>
          </a:p>
          <a:p>
            <a:pPr marL="457200" lvl="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D" sz="2400" dirty="0" err="1"/>
              <a:t>mampu</a:t>
            </a:r>
            <a:r>
              <a:rPr lang="en-ID" sz="2400" dirty="0"/>
              <a:t> </a:t>
            </a:r>
            <a:r>
              <a:rPr lang="en-ID" sz="2400" dirty="0" err="1"/>
              <a:t>menjelaskan</a:t>
            </a:r>
            <a:r>
              <a:rPr lang="en-ID" sz="2400" dirty="0"/>
              <a:t> </a:t>
            </a:r>
            <a:r>
              <a:rPr lang="en-ID" sz="2400" b="1" dirty="0" err="1"/>
              <a:t>tipe</a:t>
            </a:r>
            <a:r>
              <a:rPr lang="en-ID" sz="2400" b="1" dirty="0"/>
              <a:t> data </a:t>
            </a:r>
            <a:r>
              <a:rPr lang="en-ID" sz="2400" b="1" dirty="0" err="1"/>
              <a:t>abstrak</a:t>
            </a:r>
            <a:r>
              <a:rPr lang="en-ID" sz="2400" b="1" dirty="0"/>
              <a:t> </a:t>
            </a:r>
            <a:r>
              <a:rPr lang="en-ID" sz="2400" b="1" dirty="0" err="1"/>
              <a:t>tunggal</a:t>
            </a:r>
            <a:r>
              <a:rPr lang="en-ID" sz="2400" dirty="0"/>
              <a:t>, </a:t>
            </a:r>
            <a:r>
              <a:rPr lang="en-ID" sz="2400" dirty="0" err="1"/>
              <a:t>komponen</a:t>
            </a:r>
            <a:r>
              <a:rPr lang="en-ID" sz="2400" dirty="0"/>
              <a:t>, dan </a:t>
            </a:r>
            <a:r>
              <a:rPr lang="en-ID" sz="2400" dirty="0" err="1"/>
              <a:t>algoritma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mengelola</a:t>
            </a:r>
            <a:r>
              <a:rPr lang="en-ID" sz="2400" dirty="0"/>
              <a:t> </a:t>
            </a:r>
            <a:r>
              <a:rPr lang="en-ID" sz="2400" dirty="0" err="1"/>
              <a:t>objek</a:t>
            </a:r>
            <a:r>
              <a:rPr lang="en-ID" sz="2400" dirty="0"/>
              <a:t> data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tipe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;</a:t>
            </a:r>
          </a:p>
          <a:p>
            <a:pPr marL="457200" lvl="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D" sz="2400" dirty="0" err="1"/>
              <a:t>mampu</a:t>
            </a:r>
            <a:r>
              <a:rPr lang="en-ID" sz="2400" dirty="0"/>
              <a:t> </a:t>
            </a:r>
            <a:r>
              <a:rPr lang="en-ID" sz="2400" dirty="0" err="1"/>
              <a:t>menerapkan</a:t>
            </a:r>
            <a:r>
              <a:rPr lang="en-ID" sz="2400" dirty="0"/>
              <a:t> </a:t>
            </a:r>
            <a:r>
              <a:rPr lang="en-ID" sz="2400" b="1" dirty="0" err="1"/>
              <a:t>tipe</a:t>
            </a:r>
            <a:r>
              <a:rPr lang="en-ID" sz="2400" b="1" dirty="0"/>
              <a:t> data </a:t>
            </a:r>
            <a:r>
              <a:rPr lang="en-ID" sz="2400" b="1" dirty="0" err="1"/>
              <a:t>abstrak</a:t>
            </a:r>
            <a:r>
              <a:rPr lang="en-ID" sz="2400" b="1" dirty="0"/>
              <a:t> </a:t>
            </a:r>
            <a:r>
              <a:rPr lang="en-ID" sz="2400" b="1" dirty="0" err="1"/>
              <a:t>kolektif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merancang</a:t>
            </a:r>
            <a:r>
              <a:rPr lang="en-ID" sz="2400" dirty="0"/>
              <a:t> </a:t>
            </a:r>
            <a:r>
              <a:rPr lang="en-ID" sz="2400" dirty="0" err="1"/>
              <a:t>solusi</a:t>
            </a:r>
            <a:r>
              <a:rPr lang="en-ID" sz="2400" dirty="0"/>
              <a:t> </a:t>
            </a:r>
            <a:r>
              <a:rPr lang="en-ID" sz="2400" dirty="0" err="1"/>
              <a:t>pencarian</a:t>
            </a:r>
            <a:r>
              <a:rPr lang="en-ID" sz="2400" dirty="0"/>
              <a:t> dan </a:t>
            </a:r>
            <a:r>
              <a:rPr lang="en-ID" sz="2400" dirty="0" err="1"/>
              <a:t>pengurutan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data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kontigu</a:t>
            </a:r>
            <a:r>
              <a:rPr lang="en-ID" sz="2400" dirty="0"/>
              <a:t>;</a:t>
            </a:r>
          </a:p>
          <a:p>
            <a:pPr marL="457200" lvl="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i-FI" sz="2400" dirty="0"/>
              <a:t>mampu mengimplementasikan tipe data kolektif dalam persoalan </a:t>
            </a:r>
            <a:r>
              <a:rPr lang="fi-FI" sz="2400" b="1" dirty="0"/>
              <a:t>tumpukan data dengan akses satu pintu</a:t>
            </a:r>
            <a:r>
              <a:rPr lang="fi-FI" sz="2400" dirty="0"/>
              <a:t>;</a:t>
            </a:r>
            <a:endParaRPr lang="en-ID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8B2F6-328B-A5A3-C5C9-DDDA1879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338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0ABFD-F54F-73A6-7B77-F5982EFD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1B89-BBEE-6D9E-4D42-B2E4220FF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57" y="472899"/>
            <a:ext cx="10515600" cy="1325563"/>
          </a:xfrm>
        </p:spPr>
        <p:txBody>
          <a:bodyPr/>
          <a:lstStyle/>
          <a:p>
            <a:r>
              <a:rPr lang="en-ID" dirty="0" err="1"/>
              <a:t>Capaian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Mata </a:t>
            </a:r>
            <a:r>
              <a:rPr lang="en-ID" dirty="0" err="1"/>
              <a:t>Kuliah</a:t>
            </a:r>
            <a:r>
              <a:rPr lang="en-ID" dirty="0"/>
              <a:t> (CPMK)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7E343-F2B7-5ED9-C646-5950EDA2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871330"/>
            <a:ext cx="11663680" cy="433018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D" sz="2400" b="1" dirty="0"/>
              <a:t>Sub CPMK10-2 (</a:t>
            </a:r>
            <a:r>
              <a:rPr lang="en-ID" sz="2400" b="1" dirty="0" err="1"/>
              <a:t>lanjutan</a:t>
            </a:r>
            <a:r>
              <a:rPr lang="en-ID" sz="2400" b="1" dirty="0"/>
              <a:t>):</a:t>
            </a:r>
            <a:endParaRPr lang="en-ID" sz="2400" dirty="0"/>
          </a:p>
          <a:p>
            <a:pPr marL="457200" lvl="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fi-FI" sz="2400" dirty="0"/>
              <a:t>mampu mengimplementasikan tipe data kolektif dalam permasalahan </a:t>
            </a:r>
            <a:r>
              <a:rPr lang="fi-FI" sz="2400" b="1" dirty="0"/>
              <a:t>antrean layanan komputasi dengan akses dua pintu</a:t>
            </a:r>
            <a:r>
              <a:rPr lang="fi-FI" sz="2400" dirty="0"/>
              <a:t>;</a:t>
            </a:r>
            <a:endParaRPr lang="en-ID" sz="2400" dirty="0"/>
          </a:p>
          <a:p>
            <a:pPr marL="457200" lvl="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fi-FI" sz="2400" dirty="0"/>
              <a:t>mampu menerapkan tipe data dengan </a:t>
            </a:r>
            <a:r>
              <a:rPr lang="fi-FI" sz="2400" b="1" dirty="0"/>
              <a:t>representasi fisik</a:t>
            </a:r>
            <a:r>
              <a:rPr lang="fi-FI" sz="2400" dirty="0"/>
              <a:t> </a:t>
            </a:r>
            <a:r>
              <a:rPr lang="fi-FI" sz="2400" b="1" dirty="0"/>
              <a:t>berkait</a:t>
            </a:r>
            <a:r>
              <a:rPr lang="fi-FI" sz="2400" dirty="0"/>
              <a:t> untuk pemrosesan </a:t>
            </a:r>
            <a:r>
              <a:rPr lang="fi-FI" sz="2400" b="1" dirty="0"/>
              <a:t>koleksi objek data secara linier</a:t>
            </a:r>
            <a:r>
              <a:rPr lang="fi-FI" sz="2400" dirty="0"/>
              <a:t>;</a:t>
            </a:r>
            <a:endParaRPr lang="en-ID" sz="2400" dirty="0"/>
          </a:p>
          <a:p>
            <a:pPr marL="457200" lvl="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fi-FI" sz="2400" dirty="0"/>
              <a:t>mampu menerapkan tipe data dengan </a:t>
            </a:r>
            <a:r>
              <a:rPr lang="fi-FI" sz="2400" b="1" dirty="0"/>
              <a:t>representasi fisik berkait </a:t>
            </a:r>
            <a:r>
              <a:rPr lang="fi-FI" sz="2400" dirty="0"/>
              <a:t>untuk pemrosesan </a:t>
            </a:r>
            <a:r>
              <a:rPr lang="fi-FI" sz="2400" b="1" dirty="0"/>
              <a:t>koleksi objek data berbasis pohon</a:t>
            </a:r>
            <a:r>
              <a:rPr lang="fi-FI" sz="2400" dirty="0"/>
              <a:t>;</a:t>
            </a:r>
            <a:endParaRPr lang="en-ID" sz="2400" dirty="0"/>
          </a:p>
          <a:p>
            <a:pPr marL="457200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fi-FI" sz="2400" dirty="0"/>
              <a:t>mampu menghasilkan rancangan solusi berbasis algoritma untuk permasalahan pengelolaan </a:t>
            </a:r>
            <a:r>
              <a:rPr lang="fi-FI" sz="2400" b="1" dirty="0"/>
              <a:t>objek data kompleks</a:t>
            </a:r>
            <a:r>
              <a:rPr lang="fi-FI" sz="2400" dirty="0"/>
              <a:t>.</a:t>
            </a:r>
            <a:endParaRPr lang="en-ID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4D0A5-0612-9564-022F-D7947848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0406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E64F-948D-CDEC-076F-9343A9AC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Deskripsi</a:t>
            </a:r>
            <a:r>
              <a:rPr lang="en-ID" dirty="0"/>
              <a:t> Mata </a:t>
            </a:r>
            <a:r>
              <a:rPr lang="en-ID" dirty="0" err="1"/>
              <a:t>Kuliah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D6694-79AE-D4A5-2B3E-1ACD96F6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Abstraksi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(ADT) </a:t>
            </a:r>
          </a:p>
          <a:p>
            <a:pPr lvl="1"/>
            <a:r>
              <a:rPr lang="en-ID" sz="2800" dirty="0" err="1"/>
              <a:t>paradigma</a:t>
            </a:r>
            <a:r>
              <a:rPr lang="en-ID" sz="2800" dirty="0"/>
              <a:t> </a:t>
            </a:r>
            <a:r>
              <a:rPr lang="en-ID" sz="2800" dirty="0" err="1"/>
              <a:t>prosedural</a:t>
            </a:r>
            <a:r>
              <a:rPr lang="en-ID" sz="2800" dirty="0"/>
              <a:t> </a:t>
            </a:r>
            <a:r>
              <a:rPr lang="en-ID" sz="2800" dirty="0" err="1"/>
              <a:t>berbasis</a:t>
            </a:r>
            <a:r>
              <a:rPr lang="en-ID" sz="2800" dirty="0"/>
              <a:t> </a:t>
            </a:r>
            <a:r>
              <a:rPr lang="en-ID" sz="2800" dirty="0" err="1"/>
              <a:t>objek</a:t>
            </a:r>
            <a:r>
              <a:rPr lang="en-ID" sz="2800" dirty="0"/>
              <a:t> </a:t>
            </a:r>
          </a:p>
          <a:p>
            <a:r>
              <a:rPr lang="en-ID" dirty="0"/>
              <a:t>Program </a:t>
            </a:r>
            <a:r>
              <a:rPr lang="en-ID" dirty="0" err="1"/>
              <a:t>dibagi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modul</a:t>
            </a:r>
            <a:r>
              <a:rPr lang="en-ID" dirty="0"/>
              <a:t>,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modul</a:t>
            </a:r>
            <a:r>
              <a:rPr lang="en-ID" dirty="0"/>
              <a:t> </a:t>
            </a: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data </a:t>
            </a:r>
            <a:r>
              <a:rPr lang="en-ID" dirty="0" err="1"/>
              <a:t>beserta</a:t>
            </a:r>
            <a:r>
              <a:rPr lang="en-ID" dirty="0"/>
              <a:t> operator </a:t>
            </a:r>
            <a:r>
              <a:rPr lang="en-ID" dirty="0" err="1"/>
              <a:t>primitif</a:t>
            </a:r>
            <a:r>
              <a:rPr lang="en-ID" dirty="0"/>
              <a:t>. </a:t>
            </a:r>
          </a:p>
          <a:p>
            <a:r>
              <a:rPr lang="en-ID" dirty="0"/>
              <a:t>Modul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:</a:t>
            </a:r>
          </a:p>
          <a:p>
            <a:pPr lvl="1"/>
            <a:r>
              <a:rPr lang="en-ID" sz="2800" dirty="0" err="1"/>
              <a:t>Definisi</a:t>
            </a:r>
            <a:r>
              <a:rPr lang="en-ID" sz="2800" dirty="0"/>
              <a:t> type</a:t>
            </a:r>
          </a:p>
          <a:p>
            <a:pPr lvl="1"/>
            <a:r>
              <a:rPr lang="en-ID" sz="2800" dirty="0" err="1"/>
              <a:t>Deklarasi</a:t>
            </a:r>
            <a:r>
              <a:rPr lang="en-ID" sz="2800" dirty="0"/>
              <a:t> </a:t>
            </a:r>
            <a:r>
              <a:rPr lang="en-ID" sz="2800" dirty="0" err="1"/>
              <a:t>Prototipe</a:t>
            </a:r>
            <a:endParaRPr lang="en-ID" sz="2800" dirty="0"/>
          </a:p>
          <a:p>
            <a:pPr lvl="1"/>
            <a:r>
              <a:rPr lang="en-ID" sz="2800" dirty="0"/>
              <a:t>Body/</a:t>
            </a:r>
            <a:r>
              <a:rPr lang="en-ID" sz="2800" dirty="0" err="1"/>
              <a:t>Realisasi</a:t>
            </a:r>
            <a:r>
              <a:rPr lang="en-ID" sz="2800" dirty="0"/>
              <a:t> Subprogram. </a:t>
            </a:r>
          </a:p>
          <a:p>
            <a:pPr marL="265113" lvl="1" indent="0">
              <a:buNone/>
            </a:pPr>
            <a:r>
              <a:rPr lang="en-ID" sz="2800" dirty="0" err="1"/>
              <a:t>Primitif</a:t>
            </a:r>
            <a:r>
              <a:rPr lang="en-ID" sz="2800" dirty="0"/>
              <a:t> </a:t>
            </a:r>
            <a:r>
              <a:rPr lang="en-ID" sz="2800" dirty="0" err="1"/>
              <a:t>wajib</a:t>
            </a:r>
            <a:r>
              <a:rPr lang="en-ID" sz="2800" dirty="0"/>
              <a:t> : Create*, Get*, Set*, Is*. 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969D7-2B00-B56B-A0BA-4D69A850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743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E64F-948D-CDEC-076F-9343A9AC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Deskripsi</a:t>
            </a:r>
            <a:r>
              <a:rPr lang="en-ID" dirty="0"/>
              <a:t> Mata </a:t>
            </a:r>
            <a:r>
              <a:rPr lang="en-ID" dirty="0" err="1"/>
              <a:t>Kuliah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D6694-79AE-D4A5-2B3E-1ACD96F6D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766569"/>
            <a:ext cx="11404600" cy="4650425"/>
          </a:xfrm>
        </p:spPr>
        <p:txBody>
          <a:bodyPr>
            <a:normAutofit/>
          </a:bodyPr>
          <a:lstStyle/>
          <a:p>
            <a:r>
              <a:rPr lang="en-ID" dirty="0"/>
              <a:t>Di </a:t>
            </a:r>
            <a:r>
              <a:rPr lang="en-ID" dirty="0" err="1"/>
              <a:t>kelas</a:t>
            </a:r>
            <a:r>
              <a:rPr lang="en-ID" dirty="0"/>
              <a:t>: </a:t>
            </a:r>
            <a:r>
              <a:rPr lang="en-ID" dirty="0" err="1"/>
              <a:t>notasi</a:t>
            </a:r>
            <a:r>
              <a:rPr lang="en-ID" dirty="0"/>
              <a:t> </a:t>
            </a:r>
            <a:r>
              <a:rPr lang="en-ID" dirty="0" err="1"/>
              <a:t>algoritmik</a:t>
            </a:r>
            <a:r>
              <a:rPr lang="en-ID" dirty="0"/>
              <a:t>/pseudocode</a:t>
            </a:r>
          </a:p>
          <a:p>
            <a:r>
              <a:rPr lang="en-ID" dirty="0"/>
              <a:t>Di </a:t>
            </a:r>
            <a:r>
              <a:rPr lang="en-ID" dirty="0" err="1"/>
              <a:t>laboratorium</a:t>
            </a:r>
            <a:r>
              <a:rPr lang="en-ID" dirty="0"/>
              <a:t>: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 C/C++ </a:t>
            </a:r>
            <a:r>
              <a:rPr lang="en-ID" dirty="0" err="1"/>
              <a:t>dengan</a:t>
            </a:r>
            <a:r>
              <a:rPr lang="en-ID" dirty="0"/>
              <a:t> *.h dan *.c. </a:t>
            </a:r>
          </a:p>
          <a:p>
            <a:r>
              <a:rPr lang="en-ID" dirty="0" err="1"/>
              <a:t>Istilah</a:t>
            </a:r>
            <a:r>
              <a:rPr lang="en-ID" dirty="0"/>
              <a:t> </a:t>
            </a:r>
            <a:r>
              <a:rPr lang="en-ID" dirty="0" err="1"/>
              <a:t>khas</a:t>
            </a:r>
            <a:r>
              <a:rPr lang="en-ID" dirty="0"/>
              <a:t>: </a:t>
            </a:r>
          </a:p>
          <a:p>
            <a:pPr lvl="1"/>
            <a:r>
              <a:rPr lang="en-ID" dirty="0" err="1"/>
              <a:t>abstraksi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data</a:t>
            </a:r>
          </a:p>
          <a:p>
            <a:pPr lvl="1"/>
            <a:r>
              <a:rPr lang="en-ID" dirty="0"/>
              <a:t>creator/initiator</a:t>
            </a:r>
          </a:p>
          <a:p>
            <a:pPr lvl="1"/>
            <a:r>
              <a:rPr lang="en-ID" dirty="0"/>
              <a:t>selector/getter</a:t>
            </a:r>
          </a:p>
          <a:p>
            <a:pPr lvl="1"/>
            <a:r>
              <a:rPr lang="en-ID" dirty="0"/>
              <a:t>mutator/setter</a:t>
            </a:r>
          </a:p>
          <a:p>
            <a:pPr lvl="1"/>
            <a:r>
              <a:rPr lang="en-ID" dirty="0"/>
              <a:t>predicate/</a:t>
            </a:r>
            <a:r>
              <a:rPr lang="en-ID" dirty="0" err="1"/>
              <a:t>isTrue</a:t>
            </a:r>
            <a:endParaRPr lang="en-ID" dirty="0"/>
          </a:p>
          <a:p>
            <a:pPr lvl="1"/>
            <a:r>
              <a:rPr lang="en-ID" dirty="0"/>
              <a:t>prototype header/interface </a:t>
            </a:r>
          </a:p>
          <a:p>
            <a:pPr lvl="1"/>
            <a:r>
              <a:rPr lang="en-ID" dirty="0"/>
              <a:t>body/implementation</a:t>
            </a:r>
          </a:p>
          <a:p>
            <a:pPr lvl="1"/>
            <a:r>
              <a:rPr lang="en-ID" dirty="0"/>
              <a:t>module driver.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969D7-2B00-B56B-A0BA-4D69A850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509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7472-CD07-218B-EE24-81FE36FC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Pengampu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4CEE7-B8C9-F631-8D25-3896B637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8</a:t>
            </a:fld>
            <a:endParaRPr lang="en-ID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E31F6B-3F71-F5E0-F4CA-368AC458A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768054"/>
              </p:ext>
            </p:extLst>
          </p:nvPr>
        </p:nvGraphicFramePr>
        <p:xfrm>
          <a:off x="554073" y="1945640"/>
          <a:ext cx="1069517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415">
                  <a:extLst>
                    <a:ext uri="{9D8B030D-6E8A-4147-A177-3AD203B41FA5}">
                      <a16:colId xmlns:a16="http://schemas.microsoft.com/office/drawing/2014/main" val="3474916163"/>
                    </a:ext>
                  </a:extLst>
                </a:gridCol>
                <a:gridCol w="3316714">
                  <a:extLst>
                    <a:ext uri="{9D8B030D-6E8A-4147-A177-3AD203B41FA5}">
                      <a16:colId xmlns:a16="http://schemas.microsoft.com/office/drawing/2014/main" val="1498310669"/>
                    </a:ext>
                  </a:extLst>
                </a:gridCol>
                <a:gridCol w="2743523">
                  <a:extLst>
                    <a:ext uri="{9D8B030D-6E8A-4147-A177-3AD203B41FA5}">
                      <a16:colId xmlns:a16="http://schemas.microsoft.com/office/drawing/2014/main" val="2286097126"/>
                    </a:ext>
                  </a:extLst>
                </a:gridCol>
                <a:gridCol w="2743523">
                  <a:extLst>
                    <a:ext uri="{9D8B030D-6E8A-4147-A177-3AD203B41FA5}">
                      <a16:colId xmlns:a16="http://schemas.microsoft.com/office/drawing/2014/main" val="1351181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Pertemuan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Pengampu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Pertemuan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Pengampu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87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dirty="0"/>
                        <a:t>Khadijah, </a:t>
                      </a:r>
                      <a:r>
                        <a:rPr lang="en-US" dirty="0" err="1"/>
                        <a:t>S.Kom</a:t>
                      </a:r>
                      <a:r>
                        <a:rPr lang="en-US" dirty="0"/>
                        <a:t>., M.Cs.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D" dirty="0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Edy Suharto, S.T., </a:t>
                      </a:r>
                      <a:r>
                        <a:rPr lang="en-US" dirty="0" err="1"/>
                        <a:t>M.Kom</a:t>
                      </a:r>
                      <a:r>
                        <a:rPr lang="en-US" dirty="0"/>
                        <a:t>.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741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2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102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3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07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503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59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8 - UTS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16 - UAS</a:t>
                      </a:r>
                      <a:endParaRPr lang="en-ID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43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19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F0131-9739-A76A-4932-2E60D354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F00F-8556-B709-6663-0A9D77F1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Penilaian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8E82B-2F5E-0FFD-34E4-90A6F1D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9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A919A-2600-1F8D-8E01-B7CBC39DB852}"/>
              </a:ext>
            </a:extLst>
          </p:cNvPr>
          <p:cNvSpPr txBox="1"/>
          <p:nvPr/>
        </p:nvSpPr>
        <p:spPr>
          <a:xfrm>
            <a:off x="550293" y="5901662"/>
            <a:ext cx="9880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*)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penilaian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peniliaian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fakultas</a:t>
            </a:r>
            <a:r>
              <a:rPr lang="en-ID" dirty="0"/>
              <a:t>/universitas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124FE6-FE8D-74CA-3FB0-694358CB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5"/>
          <a:stretch>
            <a:fillRect/>
          </a:stretch>
        </p:blipFill>
        <p:spPr>
          <a:xfrm>
            <a:off x="411480" y="1591109"/>
            <a:ext cx="11602473" cy="3888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248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2903-7B0D-269B-7D5E-C3A373A0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Penilaian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55238-F172-AC99-8679-5166281F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10</a:t>
            </a:fld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97D0BC-20E6-54BF-143A-6A9797DB1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340" y="3695198"/>
            <a:ext cx="6569140" cy="2415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49189-565C-AD32-3002-09EE4161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96"/>
          <a:stretch>
            <a:fillRect/>
          </a:stretch>
        </p:blipFill>
        <p:spPr>
          <a:xfrm>
            <a:off x="3771367" y="1935126"/>
            <a:ext cx="6453964" cy="1427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FA3B45-6086-5CDE-B9F3-99204B2D46D5}"/>
              </a:ext>
            </a:extLst>
          </p:cNvPr>
          <p:cNvSpPr txBox="1"/>
          <p:nvPr/>
        </p:nvSpPr>
        <p:spPr>
          <a:xfrm>
            <a:off x="776178" y="4363683"/>
            <a:ext cx="3381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D" sz="2400" dirty="0" err="1"/>
              <a:t>Peraturan</a:t>
            </a:r>
            <a:r>
              <a:rPr lang="en-ID" sz="2400" dirty="0"/>
              <a:t> Akademik Program Sarjana </a:t>
            </a:r>
          </a:p>
          <a:p>
            <a:pPr fontAlgn="base"/>
            <a:r>
              <a:rPr lang="en-ID" sz="2400" dirty="0"/>
              <a:t>No. 7 </a:t>
            </a:r>
            <a:r>
              <a:rPr lang="en-ID" sz="2400" dirty="0" err="1"/>
              <a:t>Tahun</a:t>
            </a:r>
            <a:r>
              <a:rPr lang="en-ID" sz="2400" dirty="0"/>
              <a:t>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CC242-D2EB-220C-7BE8-50EEAFD7AD95}"/>
              </a:ext>
            </a:extLst>
          </p:cNvPr>
          <p:cNvSpPr txBox="1"/>
          <p:nvPr/>
        </p:nvSpPr>
        <p:spPr>
          <a:xfrm>
            <a:off x="776178" y="2030584"/>
            <a:ext cx="3381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D" sz="2400" dirty="0" err="1"/>
              <a:t>Peraturan</a:t>
            </a:r>
            <a:r>
              <a:rPr lang="en-ID" sz="2400" dirty="0"/>
              <a:t> Akademik Program Sarjana </a:t>
            </a:r>
          </a:p>
          <a:p>
            <a:pPr fontAlgn="base"/>
            <a:r>
              <a:rPr lang="en-ID" sz="2400" dirty="0"/>
              <a:t>No. 4 </a:t>
            </a:r>
            <a:r>
              <a:rPr lang="en-ID" sz="2400" dirty="0" err="1"/>
              <a:t>Tahun</a:t>
            </a:r>
            <a:r>
              <a:rPr lang="en-ID" sz="2400" dirty="0"/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2980010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311C-9F35-2388-70D3-C20DD462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Rencana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4EB43-CDC8-3D71-D0AF-51A88DA13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766569"/>
            <a:ext cx="11404600" cy="4529139"/>
          </a:xfrm>
        </p:spPr>
        <p:txBody>
          <a:bodyPr>
            <a:normAutofit fontScale="92500" lnSpcReduction="10000"/>
          </a:bodyPr>
          <a:lstStyle/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Tatap muka 7 x (</a:t>
            </a:r>
            <a:r>
              <a:rPr lang="en-US" sz="2800" b="0" strike="noStrike" spc="-1" dirty="0">
                <a:solidFill>
                  <a:srgbClr val="000000"/>
                </a:solidFill>
                <a:ea typeface="DejaVu Sans"/>
              </a:rPr>
              <a:t>2</a:t>
            </a: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00 menit/minggu) </a:t>
            </a:r>
            <a:endParaRPr lang="id-ID" sz="2800" b="0" strike="noStrike" spc="-1" dirty="0"/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Praktikum 6 x (120 menit/minggu)</a:t>
            </a:r>
            <a:endParaRPr lang="id-ID" sz="2800" b="0" strike="noStrike" spc="-1" dirty="0"/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FF0000"/>
                </a:solidFill>
                <a:ea typeface="DejaVu Sans"/>
              </a:rPr>
              <a:t>UTS </a:t>
            </a:r>
            <a:endParaRPr lang="id-ID" sz="2800" b="0" strike="noStrike" spc="-1" dirty="0"/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Tatap muka 7 x (</a:t>
            </a:r>
            <a:r>
              <a:rPr lang="en-US" sz="2800" b="0" strike="noStrike" spc="-1" dirty="0">
                <a:solidFill>
                  <a:srgbClr val="000000"/>
                </a:solidFill>
                <a:ea typeface="DejaVu Sans"/>
              </a:rPr>
              <a:t>2</a:t>
            </a: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00 menit/minggu) </a:t>
            </a:r>
            <a:endParaRPr lang="id-ID" sz="2800" b="0" strike="noStrike" spc="-1" dirty="0"/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Praktikum 6 x (120 menit/minggu)</a:t>
            </a:r>
            <a:endParaRPr lang="id-ID" sz="2800" b="0" strike="noStrike" spc="-1" dirty="0"/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FF0000"/>
                </a:solidFill>
                <a:ea typeface="DejaVu Sans"/>
              </a:rPr>
              <a:t>UAS </a:t>
            </a:r>
            <a:endParaRPr lang="en-US" sz="2800" b="0" strike="noStrike" spc="-1" dirty="0">
              <a:solidFill>
                <a:srgbClr val="FF0000"/>
              </a:solidFill>
              <a:ea typeface="DejaVu Sans"/>
            </a:endParaRPr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endParaRPr lang="id-ID" sz="2800" b="0" strike="noStrike" spc="-1" dirty="0"/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Belajar mandiri 14 x (240 menit/minggu) </a:t>
            </a:r>
            <a:endParaRPr lang="id-ID" sz="2800" b="0" strike="noStrike" spc="-1" dirty="0"/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Praktikum mandiri 16 x (120 menit/minggu)</a:t>
            </a:r>
            <a:endParaRPr lang="id-ID" sz="2800" b="0" strike="noStrike" spc="-1" dirty="0"/>
          </a:p>
          <a:p>
            <a:pPr marL="228600" indent="-2268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d-ID" sz="2800" b="0" strike="noStrike" spc="-1" dirty="0">
                <a:solidFill>
                  <a:srgbClr val="000000"/>
                </a:solidFill>
                <a:ea typeface="DejaVu Sans"/>
              </a:rPr>
              <a:t>Kuis ± 4 x pada slot tatap muka</a:t>
            </a:r>
            <a:endParaRPr lang="id-ID" sz="2800" b="0" strike="noStrike" spc="-1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441EC-672C-A160-0DFB-1BB3CE0A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9545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4318-1DB7-B8F8-2DB4-F83E5472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(1)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26FC8-E3E8-90F2-EE7D-69624901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12</a:t>
            </a:fld>
            <a:endParaRPr lang="en-ID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41A054-0A65-D7A2-37A0-997B347DD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585239"/>
              </p:ext>
            </p:extLst>
          </p:nvPr>
        </p:nvGraphicFramePr>
        <p:xfrm>
          <a:off x="411479" y="1766569"/>
          <a:ext cx="10773973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105">
                  <a:extLst>
                    <a:ext uri="{9D8B030D-6E8A-4147-A177-3AD203B41FA5}">
                      <a16:colId xmlns:a16="http://schemas.microsoft.com/office/drawing/2014/main" val="1180010189"/>
                    </a:ext>
                  </a:extLst>
                </a:gridCol>
                <a:gridCol w="3315151">
                  <a:extLst>
                    <a:ext uri="{9D8B030D-6E8A-4147-A177-3AD203B41FA5}">
                      <a16:colId xmlns:a16="http://schemas.microsoft.com/office/drawing/2014/main" val="2981849980"/>
                    </a:ext>
                  </a:extLst>
                </a:gridCol>
                <a:gridCol w="3999052">
                  <a:extLst>
                    <a:ext uri="{9D8B030D-6E8A-4147-A177-3AD203B41FA5}">
                      <a16:colId xmlns:a16="http://schemas.microsoft.com/office/drawing/2014/main" val="2163523681"/>
                    </a:ext>
                  </a:extLst>
                </a:gridCol>
                <a:gridCol w="2635665">
                  <a:extLst>
                    <a:ext uri="{9D8B030D-6E8A-4147-A177-3AD203B41FA5}">
                      <a16:colId xmlns:a16="http://schemas.microsoft.com/office/drawing/2014/main" val="3729068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Topik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Materi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Pokok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Praktikum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11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CPMK10-2(1)</a:t>
                      </a:r>
                      <a:endParaRPr lang="en-ID" sz="2000" b="1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 Tunggal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ADT,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kasus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Titik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l" fontAlgn="b"/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Pengayaan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: Garis,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Persegi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Lingkaran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endParaRPr lang="en-ID" sz="2000" b="0" i="0" u="none" strike="noStrike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77867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D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CPMK10-2(2)</a:t>
                      </a:r>
                      <a:endParaRPr lang="en-ID" sz="2000" b="1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Majemuk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Berbasis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Indeks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Tabel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Titik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50129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3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l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Matriks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ADT Tabel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81739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fi-FI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CPMK10-2(3)</a:t>
                      </a:r>
                    </a:p>
                    <a:p>
                      <a:pPr algn="ctr" fontAlgn="b"/>
                      <a:r>
                        <a:rPr lang="fi-FI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 Kontigu Akses 1 pintu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Stack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ADT Matriks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621955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fi-FI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45720" marR="45720"/>
                </a:tc>
                <a:tc rowSpan="3">
                  <a:txBody>
                    <a:bodyPr/>
                    <a:lstStyle/>
                    <a:p>
                      <a:pPr algn="ctr" fontAlgn="b"/>
                      <a:endParaRPr lang="en-ID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ID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CPMK10-2(4)</a:t>
                      </a:r>
                      <a:endParaRPr lang="fi-FI" sz="2000" b="1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fi-FI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 Kontigu Akses 2 pintu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Queue I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ADT Stack &amp; Aplikasi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43100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6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l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Queue II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ADT Queue Kontigu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399693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7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l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Queue III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 Queue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Variasi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457410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8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D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UTS</a:t>
                      </a:r>
                    </a:p>
                  </a:txBody>
                  <a:tcPr marL="45720" marR="45720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783763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67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4318-1DB7-B8F8-2DB4-F83E5472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(2)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26FC8-E3E8-90F2-EE7D-69624901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13</a:t>
            </a:fld>
            <a:endParaRPr lang="en-ID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41A054-0A65-D7A2-37A0-997B347DD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227500"/>
              </p:ext>
            </p:extLst>
          </p:nvPr>
        </p:nvGraphicFramePr>
        <p:xfrm>
          <a:off x="617867" y="1947322"/>
          <a:ext cx="1064201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96">
                  <a:extLst>
                    <a:ext uri="{9D8B030D-6E8A-4147-A177-3AD203B41FA5}">
                      <a16:colId xmlns:a16="http://schemas.microsoft.com/office/drawing/2014/main" val="140780013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81849980"/>
                    </a:ext>
                  </a:extLst>
                </a:gridCol>
                <a:gridCol w="3242930">
                  <a:extLst>
                    <a:ext uri="{9D8B030D-6E8A-4147-A177-3AD203B41FA5}">
                      <a16:colId xmlns:a16="http://schemas.microsoft.com/office/drawing/2014/main" val="2163523681"/>
                    </a:ext>
                  </a:extLst>
                </a:gridCol>
                <a:gridCol w="2934585">
                  <a:extLst>
                    <a:ext uri="{9D8B030D-6E8A-4147-A177-3AD203B41FA5}">
                      <a16:colId xmlns:a16="http://schemas.microsoft.com/office/drawing/2014/main" val="3729068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No.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Topik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Materi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Pokok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Praktikum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11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9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rowSpan="4">
                  <a:txBody>
                    <a:bodyPr/>
                    <a:lstStyle/>
                    <a:p>
                      <a:pPr algn="ctr" fontAlgn="b"/>
                      <a:endParaRPr lang="en-ID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/>
                      <a:r>
                        <a:rPr lang="en-ID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CPMK10-2(5)</a:t>
                      </a:r>
                      <a:endParaRPr lang="en-ID" sz="2000" b="1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Majemuk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Berbasis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Pointer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List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Lojik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-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572717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10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l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List Linier Kait Tunggal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List 1</a:t>
                      </a: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942135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11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l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List Linier Kait Ganda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List 2</a:t>
                      </a: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250001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12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l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List Sirkular Tunggal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List 3</a:t>
                      </a: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10840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13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ID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 CPMK10-2(6,7)</a:t>
                      </a:r>
                      <a:endParaRPr lang="en-ID" sz="2000" b="1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ADT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Majemuk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Berbasis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Pohon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Objek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Data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Kompleks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Pohon Lojik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Pohon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1</a:t>
                      </a: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53501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14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effectLst/>
                          <a:latin typeface="+mn-lt"/>
                          <a:cs typeface="Arial" panose="020B0604020202020204" pitchFamily="34" charset="0"/>
                        </a:rPr>
                        <a:t>Pohon Biner</a:t>
                      </a: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Pohon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2</a:t>
                      </a: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14817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15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Pohon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Lanjut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effectLst/>
                          <a:latin typeface="+mn-lt"/>
                          <a:cs typeface="Arial" panose="020B0604020202020204" pitchFamily="34" charset="0"/>
                        </a:rPr>
                        <a:t>Pohon</a:t>
                      </a:r>
                      <a:r>
                        <a:rPr lang="en-ID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 3</a:t>
                      </a: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939683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+mn-lt"/>
                          <a:cs typeface="Arial" panose="020B0604020202020204" pitchFamily="34" charset="0"/>
                        </a:rPr>
                        <a:t>16</a:t>
                      </a:r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D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UAS</a:t>
                      </a:r>
                    </a:p>
                  </a:txBody>
                  <a:tcPr marL="45720" marR="45720" anchor="b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ID" sz="2000" b="0" i="0" u="none" strike="noStrike" dirty="0"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1494953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513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828D-2C73-6403-7A16-0E33BF7A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01524-A373-F076-B507-F8905B3E4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Inggriani</a:t>
            </a:r>
            <a:r>
              <a:rPr lang="en-ID" dirty="0"/>
              <a:t> </a:t>
            </a:r>
            <a:r>
              <a:rPr lang="en-ID" dirty="0" err="1"/>
              <a:t>Liem</a:t>
            </a:r>
            <a:r>
              <a:rPr lang="en-ID" dirty="0"/>
              <a:t>. Diktat </a:t>
            </a:r>
            <a:r>
              <a:rPr lang="en-ID" dirty="0" err="1"/>
              <a:t>Struktur</a:t>
            </a:r>
            <a:r>
              <a:rPr lang="en-ID" dirty="0"/>
              <a:t> Data. 2008</a:t>
            </a:r>
          </a:p>
          <a:p>
            <a:r>
              <a:rPr lang="en-ID" dirty="0" err="1"/>
              <a:t>Inggriani</a:t>
            </a:r>
            <a:r>
              <a:rPr lang="en-ID" dirty="0"/>
              <a:t> </a:t>
            </a:r>
            <a:r>
              <a:rPr lang="en-ID" dirty="0" err="1"/>
              <a:t>Liem</a:t>
            </a:r>
            <a:r>
              <a:rPr lang="en-ID" dirty="0"/>
              <a:t>. </a:t>
            </a:r>
            <a:r>
              <a:rPr lang="en-ID" dirty="0" err="1"/>
              <a:t>Catatan</a:t>
            </a:r>
            <a:r>
              <a:rPr lang="en-ID" dirty="0"/>
              <a:t> </a:t>
            </a:r>
            <a:r>
              <a:rPr lang="en-ID" dirty="0" err="1"/>
              <a:t>Singkat</a:t>
            </a:r>
            <a:r>
              <a:rPr lang="en-ID" dirty="0"/>
              <a:t> Bahasa C. 2003</a:t>
            </a:r>
          </a:p>
          <a:p>
            <a:r>
              <a:rPr lang="en-ID" dirty="0" err="1"/>
              <a:t>Inggriani</a:t>
            </a:r>
            <a:r>
              <a:rPr lang="en-ID" dirty="0"/>
              <a:t> </a:t>
            </a:r>
            <a:r>
              <a:rPr lang="en-ID" dirty="0" err="1"/>
              <a:t>Liem</a:t>
            </a:r>
            <a:r>
              <a:rPr lang="en-ID" dirty="0"/>
              <a:t>. </a:t>
            </a:r>
            <a:r>
              <a:rPr lang="en-ID" dirty="0" err="1"/>
              <a:t>Contoh</a:t>
            </a:r>
            <a:r>
              <a:rPr lang="en-ID" dirty="0"/>
              <a:t> Program Kecil </a:t>
            </a:r>
            <a:r>
              <a:rPr lang="en-ID" dirty="0" err="1"/>
              <a:t>dalam</a:t>
            </a:r>
            <a:r>
              <a:rPr lang="en-ID" dirty="0"/>
              <a:t> Bahasa C. 2003</a:t>
            </a:r>
          </a:p>
          <a:p>
            <a:r>
              <a:rPr lang="en-ID" dirty="0"/>
              <a:t>Standish, Thomas A. Data Structures, Algorithms, &amp; Software Principles in C. Addison Wesley Publishing Company 1995</a:t>
            </a:r>
          </a:p>
          <a:p>
            <a:r>
              <a:rPr lang="en-ID" dirty="0"/>
              <a:t>AHO, Alfred V., John E. Hopcroft, Jeffrey D. Ullman. Data Structures and Algorithm. Addison </a:t>
            </a:r>
            <a:r>
              <a:rPr lang="en-ID" dirty="0" err="1"/>
              <a:t>Weshley</a:t>
            </a:r>
            <a:r>
              <a:rPr lang="en-ID" dirty="0"/>
              <a:t> Publishing Compani.1987</a:t>
            </a:r>
          </a:p>
          <a:p>
            <a:r>
              <a:rPr lang="en-ID" dirty="0"/>
              <a:t>Thareja, Reema. Data Structures Using C Second Edition, 2014, Oxford University Press.</a:t>
            </a:r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2E8C7-E540-7355-E38A-436E93A2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4371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507DAB4-AA2B-4421-BFB3-180B95EF4DB0}" vid="{649EB905-1CEB-4DD0-8DD0-7493F3383F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if undip</Template>
  <TotalTime>923</TotalTime>
  <Words>730</Words>
  <Application>Microsoft Office PowerPoint</Application>
  <PresentationFormat>Widescreen</PresentationFormat>
  <Paragraphs>177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DejaVu Sans</vt:lpstr>
      <vt:lpstr>Office Theme</vt:lpstr>
      <vt:lpstr>PAIK6301 - Struktur Data Pratinjau</vt:lpstr>
      <vt:lpstr>Peta Mata Kuliah</vt:lpstr>
      <vt:lpstr>Capaian Pembelajaran Lulusan (CPL)</vt:lpstr>
      <vt:lpstr>Capaian Pembelajaran Mata Kuliah (CPMK)</vt:lpstr>
      <vt:lpstr>Capaian Pembelajaran Mata Kuliah (CPMK)</vt:lpstr>
      <vt:lpstr>Deskripsi Mata Kuliah (1)</vt:lpstr>
      <vt:lpstr>Deskripsi Mata Kuliah (2)</vt:lpstr>
      <vt:lpstr>Pengampu</vt:lpstr>
      <vt:lpstr>Komponen Penilaian</vt:lpstr>
      <vt:lpstr>Penilaian</vt:lpstr>
      <vt:lpstr>Rencana Pembelajaran</vt:lpstr>
      <vt:lpstr>Bahan Pembelajaran (1)</vt:lpstr>
      <vt:lpstr>Bahan Pembelajaran (2)</vt:lpstr>
      <vt:lpstr>Sumber Pembelajaran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PAIK6301 - Struktur Data Pratinjau</dc:title>
  <dc:creator>Sandy Kurniawan</dc:creator>
  <cp:lastModifiedBy>Khadijah Alaydrus</cp:lastModifiedBy>
  <cp:revision>30</cp:revision>
  <dcterms:created xsi:type="dcterms:W3CDTF">2023-08-20T15:00:39Z</dcterms:created>
  <dcterms:modified xsi:type="dcterms:W3CDTF">2025-08-24T10:06:28Z</dcterms:modified>
</cp:coreProperties>
</file>